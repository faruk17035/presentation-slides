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1"/>
  </p:notesMasterIdLst>
  <p:sldIdLst>
    <p:sldId id="272" r:id="rId2"/>
    <p:sldId id="257" r:id="rId3"/>
    <p:sldId id="285" r:id="rId4"/>
    <p:sldId id="317" r:id="rId5"/>
    <p:sldId id="318" r:id="rId6"/>
    <p:sldId id="319" r:id="rId7"/>
    <p:sldId id="320" r:id="rId8"/>
    <p:sldId id="321" r:id="rId9"/>
    <p:sldId id="322" r:id="rId10"/>
    <p:sldId id="323" r:id="rId11"/>
    <p:sldId id="324" r:id="rId12"/>
    <p:sldId id="325" r:id="rId13"/>
    <p:sldId id="331" r:id="rId14"/>
    <p:sldId id="332" r:id="rId15"/>
    <p:sldId id="326" r:id="rId16"/>
    <p:sldId id="327" r:id="rId17"/>
    <p:sldId id="328" r:id="rId18"/>
    <p:sldId id="329" r:id="rId19"/>
    <p:sldId id="33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F2F"/>
    <a:srgbClr val="F67E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68" autoAdjust="0"/>
    <p:restoredTop sz="93685"/>
  </p:normalViewPr>
  <p:slideViewPr>
    <p:cSldViewPr snapToGrid="0">
      <p:cViewPr varScale="1">
        <p:scale>
          <a:sx n="143" d="100"/>
          <a:sy n="143" d="100"/>
        </p:scale>
        <p:origin x="1560" y="20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D6CA8F-E589-4377-BB9B-780D38AA0CAD}" type="datetimeFigureOut">
              <a:rPr lang="en-US" smtClean="0"/>
              <a:t>10/29/25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7CA73A-FD14-423F-BADC-BFB04F83E33E}" type="slidenum">
              <a:rPr lang="en-US" smtClean="0"/>
              <a:t>‹#›</a:t>
            </a:fld>
            <a:endParaRPr lang="en-US"/>
          </a:p>
        </p:txBody>
      </p:sp>
    </p:spTree>
    <p:extLst>
      <p:ext uri="{BB962C8B-B14F-4D97-AF65-F5344CB8AC3E}">
        <p14:creationId xmlns:p14="http://schemas.microsoft.com/office/powerpoint/2010/main" val="1049895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87CA73A-FD14-423F-BADC-BFB04F83E33E}" type="slidenum">
              <a:rPr lang="en-US" smtClean="0"/>
              <a:t>1</a:t>
            </a:fld>
            <a:endParaRPr lang="en-US"/>
          </a:p>
        </p:txBody>
      </p:sp>
    </p:spTree>
    <p:extLst>
      <p:ext uri="{BB962C8B-B14F-4D97-AF65-F5344CB8AC3E}">
        <p14:creationId xmlns:p14="http://schemas.microsoft.com/office/powerpoint/2010/main" val="3426570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7CA73A-FD14-423F-BADC-BFB04F83E33E}" type="slidenum">
              <a:rPr lang="en-US" smtClean="0"/>
              <a:t>6</a:t>
            </a:fld>
            <a:endParaRPr lang="en-US"/>
          </a:p>
        </p:txBody>
      </p:sp>
    </p:spTree>
    <p:extLst>
      <p:ext uri="{BB962C8B-B14F-4D97-AF65-F5344CB8AC3E}">
        <p14:creationId xmlns:p14="http://schemas.microsoft.com/office/powerpoint/2010/main" val="2854940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Dataset:</a:t>
            </a:r>
          </a:p>
          <a:p>
            <a:endParaRPr lang="en-US" dirty="0"/>
          </a:p>
          <a:p>
            <a:r>
              <a:rPr lang="en-US" dirty="0"/>
              <a:t>A total of </a:t>
            </a:r>
            <a:r>
              <a:rPr lang="en-US" b="1" dirty="0"/>
              <a:t>6,407 Region-of-Interest (ROI)</a:t>
            </a:r>
            <a:r>
              <a:rPr lang="en-US" dirty="0"/>
              <a:t> extractions from MRI brain scans.</a:t>
            </a:r>
          </a:p>
          <a:p>
            <a:endParaRPr lang="en-US" dirty="0"/>
          </a:p>
          <a:p>
            <a:r>
              <a:rPr lang="en-US" b="1" u="sng" dirty="0"/>
              <a:t>Four Diagnostic Classes:</a:t>
            </a:r>
            <a:endParaRPr lang="en-US" u="sng" dirty="0"/>
          </a:p>
          <a:p>
            <a:pPr lvl="1"/>
            <a:r>
              <a:rPr lang="en-US" dirty="0"/>
              <a:t>Mild Dementia (MD)</a:t>
            </a:r>
          </a:p>
          <a:p>
            <a:pPr lvl="1"/>
            <a:r>
              <a:rPr lang="en-US" dirty="0"/>
              <a:t>Moderate Dementia (MoD)</a:t>
            </a:r>
          </a:p>
          <a:p>
            <a:pPr lvl="1"/>
            <a:r>
              <a:rPr lang="en-US" dirty="0"/>
              <a:t>Normal Dementia (ND)</a:t>
            </a:r>
          </a:p>
          <a:p>
            <a:pPr lvl="1"/>
            <a:r>
              <a:rPr lang="en-US" dirty="0"/>
              <a:t>Vascular Mild Dementia (VMD)</a:t>
            </a:r>
          </a:p>
          <a:p>
            <a:pPr lvl="1"/>
            <a:endParaRPr lang="en-US" dirty="0"/>
          </a:p>
          <a:p>
            <a:r>
              <a:rPr lang="en-US" b="1" u="sng" dirty="0"/>
              <a:t>Severe Class Imbalance:</a:t>
            </a:r>
            <a:r>
              <a:rPr lang="en-US" u="sng" dirty="0"/>
              <a:t> </a:t>
            </a:r>
            <a:r>
              <a:rPr lang="en-US" dirty="0"/>
              <a:t>The MoD class represents only 0.5% of the total samples.</a:t>
            </a:r>
          </a:p>
          <a:p>
            <a:endParaRPr lang="en-US" b="1" dirty="0"/>
          </a:p>
          <a:p>
            <a:r>
              <a:rPr lang="en-US" b="1" u="sng" dirty="0"/>
              <a:t>Pre-processing:</a:t>
            </a:r>
            <a:endParaRPr lang="en-US" u="sng" dirty="0"/>
          </a:p>
          <a:p>
            <a:endParaRPr lang="en-US" b="1" dirty="0"/>
          </a:p>
          <a:p>
            <a:r>
              <a:rPr lang="en-US" b="1" dirty="0"/>
              <a:t>Class Weighting:</a:t>
            </a:r>
            <a:r>
              <a:rPr lang="en-US" dirty="0"/>
              <a:t> Calculated weights to address the class imbalance during training.</a:t>
            </a:r>
          </a:p>
          <a:p>
            <a:r>
              <a:rPr lang="en-US" b="1" dirty="0"/>
              <a:t>Medical-Specific Augmentations:</a:t>
            </a:r>
            <a:r>
              <a:rPr lang="en-US" dirty="0"/>
              <a:t> Applied conservative transformations (flipping, rotation, color jitter) to create augmented views for contrastive learning without losing diagnostic information.</a:t>
            </a:r>
          </a:p>
          <a:p>
            <a:endParaRPr lang="en-US" b="1" dirty="0"/>
          </a:p>
          <a:p>
            <a:r>
              <a:rPr lang="en-US" b="1" dirty="0"/>
              <a:t>7. Methodology: SSL Framework &amp; Downstream Tasks</a:t>
            </a:r>
          </a:p>
          <a:p>
            <a:endParaRPr lang="en-US" b="1" dirty="0"/>
          </a:p>
          <a:p>
            <a:r>
              <a:rPr lang="en-US" b="1" u="sng" dirty="0"/>
              <a:t>Self-Supervised Pre-training (</a:t>
            </a:r>
            <a:r>
              <a:rPr lang="en-US" b="1" u="sng" dirty="0" err="1"/>
              <a:t>SimCLR</a:t>
            </a:r>
            <a:r>
              <a:rPr lang="en-US" b="1" u="sng" dirty="0"/>
              <a:t>):</a:t>
            </a:r>
            <a:endParaRPr lang="en-US" u="sng" dirty="0"/>
          </a:p>
          <a:p>
            <a:endParaRPr lang="en-US" b="1" dirty="0"/>
          </a:p>
          <a:p>
            <a:r>
              <a:rPr lang="en-US" b="1" dirty="0"/>
              <a:t>Goal:</a:t>
            </a:r>
            <a:r>
              <a:rPr lang="en-US" dirty="0"/>
              <a:t> To learn robust feature representations from unlabeled MRI data.</a:t>
            </a:r>
            <a:endParaRPr lang="en-US" b="1" dirty="0"/>
          </a:p>
          <a:p>
            <a:r>
              <a:rPr lang="en-US" b="1" dirty="0"/>
              <a:t>Architecture:</a:t>
            </a:r>
            <a:r>
              <a:rPr lang="en-US" dirty="0"/>
              <a:t> Used a </a:t>
            </a:r>
            <a:r>
              <a:rPr lang="en-US" b="1" dirty="0" err="1"/>
              <a:t>ConvNeXt</a:t>
            </a:r>
            <a:r>
              <a:rPr lang="en-US" b="1" dirty="0"/>
              <a:t>-S</a:t>
            </a:r>
            <a:r>
              <a:rPr lang="en-US" dirty="0"/>
              <a:t> encoder and a 2-layer MLP projection head.</a:t>
            </a:r>
          </a:p>
          <a:p>
            <a:r>
              <a:rPr lang="en-US" b="1" dirty="0"/>
              <a:t>Contrastive Learning:</a:t>
            </a:r>
            <a:r>
              <a:rPr lang="en-US" dirty="0"/>
              <a:t> The model learns by maximizing agreement between two augmented views of the same image (positive pairs) while minimizing agreement with all other images (negative pairs) using the </a:t>
            </a:r>
            <a:r>
              <a:rPr lang="en-US" b="1" dirty="0" err="1"/>
              <a:t>InfoNCE</a:t>
            </a:r>
            <a:r>
              <a:rPr lang="en-US" b="1" dirty="0"/>
              <a:t> loss function</a:t>
            </a:r>
            <a:r>
              <a:rPr lang="en-US" dirty="0"/>
              <a:t>.</a:t>
            </a:r>
          </a:p>
          <a:p>
            <a:endParaRPr lang="en-US" b="1" dirty="0"/>
          </a:p>
          <a:p>
            <a:r>
              <a:rPr lang="en-US" b="1" u="sng" dirty="0"/>
              <a:t>Downstream Task Adaptation:</a:t>
            </a:r>
            <a:endParaRPr lang="en-US" u="sng" dirty="0"/>
          </a:p>
          <a:p>
            <a:endParaRPr lang="en-US" b="1" dirty="0"/>
          </a:p>
          <a:p>
            <a:r>
              <a:rPr lang="en-US" b="1" dirty="0"/>
              <a:t>Linear Probing:</a:t>
            </a:r>
            <a:r>
              <a:rPr lang="en-US" dirty="0"/>
              <a:t> Froze the pre-trained encoder and trained only a linear classifier on top to test the quality of SSL features.</a:t>
            </a:r>
          </a:p>
          <a:p>
            <a:r>
              <a:rPr lang="en-US" b="1" dirty="0"/>
              <a:t>Full Fine-Tuning:</a:t>
            </a:r>
            <a:r>
              <a:rPr lang="en-US" dirty="0"/>
              <a:t> Unfroze the entire network and trained it end-to-end on the labeled data for maximum performance.</a:t>
            </a:r>
          </a:p>
          <a:p>
            <a:r>
              <a:rPr lang="en-US" b="1" dirty="0"/>
              <a:t>Few-Shot Learning:</a:t>
            </a:r>
            <a:r>
              <a:rPr lang="en-US" dirty="0"/>
              <a:t> Fine-tuned the model using only small fractions (1%, 5%, 10%) of the labeled data to simulate real-world data scarcity.</a:t>
            </a:r>
          </a:p>
          <a:p>
            <a:endParaRPr lang="en-US" dirty="0"/>
          </a:p>
        </p:txBody>
      </p:sp>
      <p:sp>
        <p:nvSpPr>
          <p:cNvPr id="4" name="Slide Number Placeholder 3"/>
          <p:cNvSpPr>
            <a:spLocks noGrp="1"/>
          </p:cNvSpPr>
          <p:nvPr>
            <p:ph type="sldNum" sz="quarter" idx="5"/>
          </p:nvPr>
        </p:nvSpPr>
        <p:spPr/>
        <p:txBody>
          <a:bodyPr/>
          <a:lstStyle/>
          <a:p>
            <a:fld id="{D87CA73A-FD14-423F-BADC-BFB04F83E33E}" type="slidenum">
              <a:rPr lang="en-US" smtClean="0"/>
              <a:t>10</a:t>
            </a:fld>
            <a:endParaRPr lang="en-US"/>
          </a:p>
        </p:txBody>
      </p:sp>
    </p:spTree>
    <p:extLst>
      <p:ext uri="{BB962C8B-B14F-4D97-AF65-F5344CB8AC3E}">
        <p14:creationId xmlns:p14="http://schemas.microsoft.com/office/powerpoint/2010/main" val="3335178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6CA0E3-419F-4604-BC74-E269FB0F1523}" type="datetime1">
              <a:rPr lang="en-US" smtClean="0"/>
              <a:t>10/29/25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2674752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A6ADAF-FB55-4AF3-B2B7-686E20A3D18C}" type="datetime1">
              <a:rPr lang="en-US" smtClean="0"/>
              <a:t>10/29/25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624673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403428-951A-49DE-A31B-22A85E57845D}" type="datetime1">
              <a:rPr lang="en-US" smtClean="0"/>
              <a:t>10/29/25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38949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F08155-D5EE-48D6-A74B-E8F3F3C24BF6}" type="datetime1">
              <a:rPr lang="en-US" smtClean="0"/>
              <a:t>10/29/25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3128655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5DFFD8-A9D4-4536-A3C5-7F8AAD4EDD22}" type="datetime1">
              <a:rPr lang="en-US" smtClean="0"/>
              <a:t>10/29/25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4055980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E5F9A5-7053-43D2-B232-972BFCAE03E1}" type="datetime1">
              <a:rPr lang="en-US" smtClean="0"/>
              <a:t>10/29/25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566443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00D002-4600-4DD4-8979-4861D89F147A}" type="datetime1">
              <a:rPr lang="en-US" smtClean="0"/>
              <a:t>10/29/25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016096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D402DF-8CB8-4B6B-AD47-18BD2100941B}" type="datetime1">
              <a:rPr lang="en-US" smtClean="0"/>
              <a:t>10/29/25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914569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524548-D006-45F5-88D0-5F4E8ADD5F7E}" type="datetime1">
              <a:rPr lang="en-US" smtClean="0"/>
              <a:t>10/29/25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2117100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78ECB-A428-43FC-A0CA-4B64D37FDCD5}" type="datetime1">
              <a:rPr lang="en-US" smtClean="0"/>
              <a:t>10/29/25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631977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C8AD15-1017-4D8A-9D0A-2CDFE5D39604}" type="datetime1">
              <a:rPr lang="en-US" smtClean="0"/>
              <a:t>10/29/25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9D1490-14D1-4384-ACF6-FB85194E0F5F}" type="slidenum">
              <a:rPr lang="en-US" smtClean="0"/>
              <a:t>‹#›</a:t>
            </a:fld>
            <a:endParaRPr lang="en-US"/>
          </a:p>
        </p:txBody>
      </p:sp>
    </p:spTree>
    <p:extLst>
      <p:ext uri="{BB962C8B-B14F-4D97-AF65-F5344CB8AC3E}">
        <p14:creationId xmlns:p14="http://schemas.microsoft.com/office/powerpoint/2010/main" val="116427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A8AC82-2CC8-4EB0-A508-6A88205B6FA0}" type="datetime1">
              <a:rPr lang="en-US" smtClean="0"/>
              <a:t>10/29/25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9D1490-14D1-4384-ACF6-FB85194E0F5F}" type="slidenum">
              <a:rPr lang="en-US" smtClean="0"/>
              <a:t>‹#›</a:t>
            </a:fld>
            <a:endParaRPr lang="en-US"/>
          </a:p>
        </p:txBody>
      </p:sp>
    </p:spTree>
    <p:extLst>
      <p:ext uri="{BB962C8B-B14F-4D97-AF65-F5344CB8AC3E}">
        <p14:creationId xmlns:p14="http://schemas.microsoft.com/office/powerpoint/2010/main" val="301195405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drhasan.swe@diu.edu.bd" TargetMode="External"/><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hyperlink" Target="http://rudra16-563@diu.edu.b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hyperlink" Target="http://faruk.cis@diu.edu.bd"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Subtitle 15"/>
              <p:cNvSpPr>
                <a:spLocks noGrp="1"/>
              </p:cNvSpPr>
              <p:nvPr>
                <p:ph type="subTitle" idx="1"/>
              </p:nvPr>
            </p:nvSpPr>
            <p:spPr>
              <a:xfrm>
                <a:off x="974226" y="3852834"/>
                <a:ext cx="10023987" cy="465000"/>
              </a:xfrm>
            </p:spPr>
            <p:txBody>
              <a:bodyPr>
                <a:normAutofit/>
              </a:bodyPr>
              <a:lstStyle/>
              <a:p>
                <a:pPr lvl="0">
                  <a:lnSpc>
                    <a:spcPct val="100000"/>
                  </a:lnSpc>
                  <a:defRPr/>
                </a:pPr>
                <a14:m>
                  <m:oMath xmlns:m="http://schemas.openxmlformats.org/officeDocument/2006/math">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pPr>
                      <m:e>
                        <m:r>
                          <a:rPr lang="en-US" sz="1800" i="1">
                            <a:solidFill>
                              <a:prstClr val="black"/>
                            </a:solidFill>
                            <a:latin typeface="Cambria Math" panose="02040503050406030204" pitchFamily="18" charset="0"/>
                            <a:cs typeface="Times New Roman" panose="02020603050405020304" pitchFamily="18" charset="0"/>
                          </a:rPr>
                          <m:t>𝐹𝑟𝑎𝑛𝑐𝑖𝑠</m:t>
                        </m:r>
                        <m:r>
                          <a:rPr lang="en-US" sz="1800" i="1">
                            <a:solidFill>
                              <a:prstClr val="black"/>
                            </a:solidFill>
                            <a:latin typeface="Cambria Math" panose="02040503050406030204" pitchFamily="18" charset="0"/>
                            <a:cs typeface="Times New Roman" panose="02020603050405020304" pitchFamily="18" charset="0"/>
                          </a:rPr>
                          <m:t> </m:t>
                        </m:r>
                        <m:r>
                          <a:rPr lang="en-US" sz="1800" i="1">
                            <a:solidFill>
                              <a:prstClr val="black"/>
                            </a:solidFill>
                            <a:latin typeface="Cambria Math" panose="02040503050406030204" pitchFamily="18" charset="0"/>
                            <a:cs typeface="Times New Roman" panose="02020603050405020304" pitchFamily="18" charset="0"/>
                          </a:rPr>
                          <m:t>𝑅𝑢𝑑𝑟𝑎</m:t>
                        </m:r>
                        <m:r>
                          <a:rPr lang="en-US" sz="1800" i="1">
                            <a:solidFill>
                              <a:prstClr val="black"/>
                            </a:solidFill>
                            <a:latin typeface="Cambria Math" panose="02040503050406030204" pitchFamily="18" charset="0"/>
                            <a:cs typeface="Times New Roman" panose="02020603050405020304" pitchFamily="18" charset="0"/>
                          </a:rPr>
                          <m:t> </m:t>
                        </m:r>
                        <m:r>
                          <a:rPr lang="en-US" sz="1800" i="1">
                            <a:solidFill>
                              <a:prstClr val="black"/>
                            </a:solidFill>
                            <a:latin typeface="Cambria Math" panose="02040503050406030204" pitchFamily="18" charset="0"/>
                            <a:cs typeface="Times New Roman" panose="02020603050405020304" pitchFamily="18" charset="0"/>
                          </a:rPr>
                          <m:t>𝐷</m:t>
                        </m:r>
                        <m:r>
                          <a:rPr lang="en-US" sz="1800" i="1">
                            <a:solidFill>
                              <a:prstClr val="black"/>
                            </a:solidFill>
                            <a:latin typeface="Cambria Math" panose="02040503050406030204" pitchFamily="18" charset="0"/>
                            <a:cs typeface="Times New Roman" panose="02020603050405020304" pitchFamily="18" charset="0"/>
                          </a:rPr>
                          <m:t> </m:t>
                        </m:r>
                        <m:r>
                          <a:rPr lang="en-US" sz="1800" i="1">
                            <a:solidFill>
                              <a:prstClr val="black"/>
                            </a:solidFill>
                            <a:latin typeface="Cambria Math" panose="02040503050406030204" pitchFamily="18" charset="0"/>
                            <a:cs typeface="Times New Roman" panose="02020603050405020304" pitchFamily="18" charset="0"/>
                          </a:rPr>
                          <m:t>𝐶𝑟𝑢𝑧𝑒</m:t>
                        </m:r>
                      </m:e>
                      <m:sup>
                        <m:r>
                          <a:rPr kumimoji="0" lang="en-GB"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𝑏</m:t>
                        </m:r>
                      </m:sup>
                    </m:sSup>
                  </m:oMath>
                </a14:m>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14:m>
                  <m:oMath xmlns:m="http://schemas.openxmlformats.org/officeDocument/2006/math">
                    <m:sSup>
                      <m:sSup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pPr>
                      <m:e>
                        <m:r>
                          <m:rPr>
                            <m:nor/>
                          </m:rPr>
                          <a:rPr lang="en-GB" sz="1800" i="1" dirty="0">
                            <a:solidFill>
                              <a:prstClr val="black"/>
                            </a:solidFill>
                            <a:latin typeface="Cambria Math" panose="02040503050406030204" pitchFamily="18" charset="0"/>
                            <a:cs typeface="Times New Roman" panose="02020603050405020304" pitchFamily="18" charset="0"/>
                          </a:rPr>
                          <m:t>S</m:t>
                        </m:r>
                        <m:r>
                          <m:rPr>
                            <m:nor/>
                          </m:rPr>
                          <a:rPr lang="en-GB" sz="1800" i="1" dirty="0">
                            <a:solidFill>
                              <a:prstClr val="black"/>
                            </a:solidFill>
                            <a:latin typeface="Cambria Math" panose="02040503050406030204" pitchFamily="18" charset="0"/>
                            <a:cs typeface="Times New Roman" panose="02020603050405020304" pitchFamily="18" charset="0"/>
                          </a:rPr>
                          <m:t>. </m:t>
                        </m:r>
                        <m:r>
                          <m:rPr>
                            <m:nor/>
                          </m:rPr>
                          <a:rPr lang="en-GB" sz="1800" i="1" dirty="0">
                            <a:solidFill>
                              <a:prstClr val="black"/>
                            </a:solidFill>
                            <a:latin typeface="Cambria Math" panose="02040503050406030204" pitchFamily="18" charset="0"/>
                            <a:cs typeface="Times New Roman" panose="02020603050405020304" pitchFamily="18" charset="0"/>
                          </a:rPr>
                          <m:t>M</m:t>
                        </m:r>
                        <m:r>
                          <m:rPr>
                            <m:nor/>
                          </m:rPr>
                          <a:rPr lang="en-GB" sz="1800" i="1" dirty="0">
                            <a:solidFill>
                              <a:prstClr val="black"/>
                            </a:solidFill>
                            <a:latin typeface="Cambria Math" panose="02040503050406030204" pitchFamily="18" charset="0"/>
                            <a:cs typeface="Times New Roman" panose="02020603050405020304" pitchFamily="18" charset="0"/>
                          </a:rPr>
                          <m:t>. </m:t>
                        </m:r>
                        <m:r>
                          <m:rPr>
                            <m:nor/>
                          </m:rPr>
                          <a:rPr lang="en-GB" sz="1800" i="1" dirty="0">
                            <a:solidFill>
                              <a:prstClr val="black"/>
                            </a:solidFill>
                            <a:latin typeface="Cambria Math" panose="02040503050406030204" pitchFamily="18" charset="0"/>
                            <a:cs typeface="Times New Roman" panose="02020603050405020304" pitchFamily="18" charset="0"/>
                          </a:rPr>
                          <m:t>Hasan</m:t>
                        </m:r>
                        <m:r>
                          <m:rPr>
                            <m:nor/>
                          </m:rPr>
                          <a:rPr lang="en-GB" sz="1800" i="1" dirty="0">
                            <a:solidFill>
                              <a:prstClr val="black"/>
                            </a:solidFill>
                            <a:latin typeface="Cambria Math" panose="02040503050406030204" pitchFamily="18" charset="0"/>
                            <a:cs typeface="Times New Roman" panose="02020603050405020304" pitchFamily="18" charset="0"/>
                          </a:rPr>
                          <m:t> </m:t>
                        </m:r>
                        <m:r>
                          <m:rPr>
                            <m:nor/>
                          </m:rPr>
                          <a:rPr lang="en-GB" sz="1800" i="1" dirty="0">
                            <a:solidFill>
                              <a:prstClr val="black"/>
                            </a:solidFill>
                            <a:latin typeface="Cambria Math" panose="02040503050406030204" pitchFamily="18" charset="0"/>
                            <a:cs typeface="Times New Roman" panose="02020603050405020304" pitchFamily="18" charset="0"/>
                          </a:rPr>
                          <m:t>Mahmud</m:t>
                        </m:r>
                      </m:e>
                      <m:sup>
                        <m:r>
                          <a:rPr lang="en-US" sz="1800" b="0" i="1" dirty="0" smtClean="0">
                            <a:solidFill>
                              <a:prstClr val="black"/>
                            </a:solidFill>
                            <a:latin typeface="Cambria Math" panose="02040503050406030204" pitchFamily="18" charset="0"/>
                            <a:cs typeface="Times New Roman" panose="02020603050405020304" pitchFamily="18" charset="0"/>
                          </a:rPr>
                          <m:t> </m:t>
                        </m:r>
                        <m:r>
                          <a:rPr lang="en-US" sz="1800" b="0" i="1" dirty="0" smtClean="0">
                            <a:solidFill>
                              <a:prstClr val="black"/>
                            </a:solidFill>
                            <a:latin typeface="Cambria Math" panose="02040503050406030204" pitchFamily="18" charset="0"/>
                            <a:cs typeface="Times New Roman" panose="02020603050405020304" pitchFamily="18" charset="0"/>
                          </a:rPr>
                          <m:t>𝑏</m:t>
                        </m:r>
                        <m:r>
                          <a:rPr lang="en-US" sz="1800" b="0" i="1" dirty="0" smtClean="0">
                            <a:solidFill>
                              <a:prstClr val="black"/>
                            </a:solidFill>
                            <a:latin typeface="Cambria Math" panose="02040503050406030204" pitchFamily="18" charset="0"/>
                            <a:cs typeface="Times New Roman" panose="02020603050405020304" pitchFamily="18" charset="0"/>
                          </a:rPr>
                          <m:t>,</m:t>
                        </m:r>
                        <m:r>
                          <a:rPr lang="en-US" sz="1800" b="0" i="1" dirty="0" smtClean="0">
                            <a:solidFill>
                              <a:prstClr val="black"/>
                            </a:solidFill>
                            <a:latin typeface="Cambria Math" panose="02040503050406030204" pitchFamily="18" charset="0"/>
                            <a:cs typeface="Times New Roman" panose="02020603050405020304" pitchFamily="18" charset="0"/>
                          </a:rPr>
                          <m:t>𝑐</m:t>
                        </m:r>
                        <m:r>
                          <a:rPr lang="en-US" sz="1800" b="0" i="1" dirty="0" smtClean="0">
                            <a:solidFill>
                              <a:prstClr val="black"/>
                            </a:solidFill>
                            <a:latin typeface="Cambria Math" panose="02040503050406030204" pitchFamily="18" charset="0"/>
                            <a:cs typeface="Times New Roman" panose="02020603050405020304" pitchFamily="18" charset="0"/>
                          </a:rPr>
                          <m:t>,∗</m:t>
                        </m:r>
                      </m:sup>
                    </m:sSup>
                  </m:oMath>
                </a14:m>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14:m>
                  <m:oMath xmlns:m="http://schemas.openxmlformats.org/officeDocument/2006/math">
                    <m:sSup>
                      <m:sSup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pPr>
                      <m:e>
                        <m:r>
                          <m:rPr>
                            <m:nor/>
                          </m:rPr>
                          <a:rPr lang="en-GB" sz="1800" dirty="0">
                            <a:solidFill>
                              <a:prstClr val="black"/>
                            </a:solidFill>
                            <a:latin typeface="Cambria Math" panose="02040503050406030204" pitchFamily="18" charset="0"/>
                            <a:cs typeface="Times New Roman" panose="02020603050405020304" pitchFamily="18" charset="0"/>
                          </a:rPr>
                          <m:t>Md</m:t>
                        </m:r>
                        <m:r>
                          <m:rPr>
                            <m:nor/>
                          </m:rPr>
                          <a:rPr lang="en-GB" sz="1800" dirty="0">
                            <a:solidFill>
                              <a:prstClr val="black"/>
                            </a:solidFill>
                            <a:latin typeface="Cambria Math" panose="02040503050406030204" pitchFamily="18" charset="0"/>
                            <a:cs typeface="Times New Roman" panose="02020603050405020304" pitchFamily="18" charset="0"/>
                          </a:rPr>
                          <m:t>. </m:t>
                        </m:r>
                        <m:r>
                          <m:rPr>
                            <m:nor/>
                          </m:rPr>
                          <a:rPr lang="en-GB" sz="1800" dirty="0">
                            <a:solidFill>
                              <a:prstClr val="black"/>
                            </a:solidFill>
                            <a:latin typeface="Cambria Math" panose="02040503050406030204" pitchFamily="18" charset="0"/>
                            <a:cs typeface="Times New Roman" panose="02020603050405020304" pitchFamily="18" charset="0"/>
                          </a:rPr>
                          <m:t>Faruk</m:t>
                        </m:r>
                        <m:r>
                          <m:rPr>
                            <m:nor/>
                          </m:rPr>
                          <a:rPr lang="en-GB" sz="1800" dirty="0">
                            <a:solidFill>
                              <a:prstClr val="black"/>
                            </a:solidFill>
                            <a:latin typeface="Cambria Math" panose="02040503050406030204" pitchFamily="18" charset="0"/>
                            <a:cs typeface="Times New Roman" panose="02020603050405020304" pitchFamily="18" charset="0"/>
                          </a:rPr>
                          <m:t> </m:t>
                        </m:r>
                        <m:r>
                          <m:rPr>
                            <m:nor/>
                          </m:rPr>
                          <a:rPr lang="en-GB" sz="1800" dirty="0">
                            <a:solidFill>
                              <a:prstClr val="black"/>
                            </a:solidFill>
                            <a:latin typeface="Cambria Math" panose="02040503050406030204" pitchFamily="18" charset="0"/>
                            <a:cs typeface="Times New Roman" panose="02020603050405020304" pitchFamily="18" charset="0"/>
                          </a:rPr>
                          <m:t>Hosen</m:t>
                        </m:r>
                      </m:e>
                      <m:sup>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𝑎</m:t>
                        </m:r>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𝑏</m:t>
                        </m:r>
                      </m:sup>
                    </m:sSup>
                  </m:oMath>
                </a14:m>
                <a:endParaRPr lang="en-US" dirty="0">
                  <a:latin typeface="Cambria" panose="02040503050406030204" pitchFamily="18" charset="0"/>
                  <a:ea typeface="Cambria" panose="02040503050406030204" pitchFamily="18" charset="0"/>
                </a:endParaRPr>
              </a:p>
            </p:txBody>
          </p:sp>
        </mc:Choice>
        <mc:Fallback xmlns="">
          <p:sp>
            <p:nvSpPr>
              <p:cNvPr id="16" name="Subtitle 15"/>
              <p:cNvSpPr>
                <a:spLocks noGrp="1" noRot="1" noChangeAspect="1" noMove="1" noResize="1" noEditPoints="1" noAdjustHandles="1" noChangeArrowheads="1" noChangeShapeType="1" noTextEdit="1"/>
              </p:cNvSpPr>
              <p:nvPr>
                <p:ph type="subTitle" idx="1"/>
              </p:nvPr>
            </p:nvSpPr>
            <p:spPr>
              <a:xfrm>
                <a:off x="974226" y="3852834"/>
                <a:ext cx="10023987" cy="465000"/>
              </a:xfrm>
              <a:blipFill>
                <a:blip r:embed="rId3"/>
                <a:stretch>
                  <a:fillRect t="-2703" b="-2703"/>
                </a:stretch>
              </a:blipFill>
            </p:spPr>
            <p:txBody>
              <a:bodyPr/>
              <a:lstStyle/>
              <a:p>
                <a:r>
                  <a:rPr lang="en-US">
                    <a:noFill/>
                  </a:rPr>
                  <a:t> </a:t>
                </a:r>
              </a:p>
            </p:txBody>
          </p:sp>
        </mc:Fallback>
      </mc:AlternateContent>
      <p:sp>
        <p:nvSpPr>
          <p:cNvPr id="5" name="AutoShape 6" descr="Image result for logo of diu"/>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ounded Rectangle 2">
            <a:extLst>
              <a:ext uri="{FF2B5EF4-FFF2-40B4-BE49-F238E27FC236}">
                <a16:creationId xmlns:a16="http://schemas.microsoft.com/office/drawing/2014/main" id="{1006E54D-0805-91BE-30A2-1EDFF437644B}"/>
              </a:ext>
            </a:extLst>
          </p:cNvPr>
          <p:cNvSpPr/>
          <p:nvPr/>
        </p:nvSpPr>
        <p:spPr>
          <a:xfrm>
            <a:off x="3718191" y="3076017"/>
            <a:ext cx="4536057" cy="53483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Paper ID- </a:t>
            </a:r>
            <a:r>
              <a:rPr lang="en-US" dirty="0">
                <a:solidFill>
                  <a:schemeClr val="bg1"/>
                </a:solidFill>
                <a:latin typeface="Times New Roman" panose="02020603050405020304" pitchFamily="18" charset="0"/>
                <a:cs typeface="Times New Roman" panose="02020603050405020304" pitchFamily="18" charset="0"/>
              </a:rPr>
              <a:t>2025051097</a:t>
            </a:r>
            <a:endParaRPr lang="en-US"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67D68ABF-341D-7F1C-9DCB-3FA97D0D0B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6516"/>
          <a:stretch>
            <a:fillRect/>
          </a:stretch>
        </p:blipFill>
        <p:spPr bwMode="auto">
          <a:xfrm>
            <a:off x="0" y="-855"/>
            <a:ext cx="12192000" cy="1578707"/>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5017C9E-A9D7-F4AD-A412-93C2682C2A66}"/>
              </a:ext>
            </a:extLst>
          </p:cNvPr>
          <p:cNvSpPr txBox="1"/>
          <p:nvPr/>
        </p:nvSpPr>
        <p:spPr>
          <a:xfrm>
            <a:off x="612776" y="1691432"/>
            <a:ext cx="10746886" cy="1135888"/>
          </a:xfrm>
          <a:prstGeom prst="rect">
            <a:avLst/>
          </a:prstGeom>
          <a:noFill/>
        </p:spPr>
        <p:txBody>
          <a:bodyPr wrap="square">
            <a:spAutoFit/>
          </a:bodyPr>
          <a:lstStyle/>
          <a:p>
            <a:pPr algn="ctr">
              <a:lnSpc>
                <a:spcPct val="110000"/>
              </a:lnSpc>
            </a:pPr>
            <a:r>
              <a:rPr lang="en-US" sz="3200" dirty="0">
                <a:solidFill>
                  <a:schemeClr val="accent1"/>
                </a:solidFill>
                <a:latin typeface="Times New Roman" panose="02020603050405020304" pitchFamily="18" charset="0"/>
                <a:cs typeface="Times New Roman" panose="02020603050405020304" pitchFamily="18" charset="0"/>
              </a:rPr>
              <a:t>Contrastive Self-Supervised Learning Framework for </a:t>
            </a:r>
          </a:p>
          <a:p>
            <a:pPr algn="ctr">
              <a:lnSpc>
                <a:spcPct val="110000"/>
              </a:lnSpc>
            </a:pPr>
            <a:r>
              <a:rPr lang="en-US" sz="3200" dirty="0">
                <a:solidFill>
                  <a:schemeClr val="accent1"/>
                </a:solidFill>
                <a:latin typeface="Times New Roman" panose="02020603050405020304" pitchFamily="18" charset="0"/>
                <a:cs typeface="Times New Roman" panose="02020603050405020304" pitchFamily="18" charset="0"/>
              </a:rPr>
              <a:t>Multi-Class Alzheimer’s Disease Diagnosis from MRI Images</a:t>
            </a:r>
            <a:endParaRPr lang="en-US" sz="2000"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DA5924A-DEA0-2BA2-6EFA-2ED169FB6A43}"/>
                  </a:ext>
                </a:extLst>
              </p:cNvPr>
              <p:cNvSpPr txBox="1"/>
              <p:nvPr/>
            </p:nvSpPr>
            <p:spPr>
              <a:xfrm>
                <a:off x="838200" y="4617532"/>
                <a:ext cx="10037885" cy="760849"/>
              </a:xfrm>
              <a:prstGeom prst="rect">
                <a:avLst/>
              </a:prstGeom>
              <a:noFill/>
            </p:spPr>
            <p:txBody>
              <a:bodyPr wrap="square" rtlCol="0">
                <a:spAutoFit/>
              </a:bodyPr>
              <a:lstStyle/>
              <a:p>
                <a:pPr lvl="0" algn="ctr" defTabSz="914400">
                  <a:spcBef>
                    <a:spcPts val="1000"/>
                  </a:spcBef>
                  <a:defRPr/>
                </a:pPr>
                <a14:m>
                  <m:oMathPara xmlns:m="http://schemas.openxmlformats.org/officeDocument/2006/math">
                    <m:oMathParaPr>
                      <m:jc m:val="centerGroup"/>
                    </m:oMathParaPr>
                    <m:oMath xmlns:m="http://schemas.openxmlformats.org/officeDocument/2006/math">
                      <m:sSup>
                        <m:sSupPr>
                          <m:ctrlPr>
                            <a:rPr lang="en-US" sz="1400" i="1" smtClean="0">
                              <a:solidFill>
                                <a:prstClr val="black"/>
                              </a:solidFill>
                              <a:latin typeface="Cambria Math" panose="02040503050406030204" pitchFamily="18" charset="0"/>
                              <a:ea typeface="Cambria" panose="02040503050406030204" pitchFamily="18" charset="0"/>
                            </a:rPr>
                          </m:ctrlPr>
                        </m:sSupPr>
                        <m:e>
                          <m:r>
                            <a:rPr lang="en-US" sz="1400" i="1">
                              <a:solidFill>
                                <a:prstClr val="black"/>
                              </a:solidFill>
                              <a:latin typeface="Cambria Math" panose="02040503050406030204" pitchFamily="18" charset="0"/>
                              <a:ea typeface="Cambria" panose="02040503050406030204" pitchFamily="18" charset="0"/>
                            </a:rPr>
                            <m:t>𝐷𝑒𝑝𝑎𝑟𝑡𝑚𝑒𝑛𝑡</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𝑜𝑓</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𝐶𝑜𝑚𝑝𝑢𝑡𝑖𝑛𝑔</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𝑎𝑛𝑑</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𝐼𝑛𝑓𝑜𝑟𝑚𝑎𝑡𝑖𝑜𝑛</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𝑆𝑦𝑠𝑡𝑒𝑚</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𝐷𝑎𝑓𝑓𝑜𝑑𝑖𝑙</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𝐼𝑛𝑡𝑒𝑟𝑛𝑎𝑡𝑖𝑜𝑛𝑎𝑙</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𝑈𝑛𝑖𝑣𝑒𝑟𝑠𝑖𝑡𝑦</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𝐷𝐼𝑈</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𝐴𝑠h𝑢𝑙𝑖𝑎</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𝐷h𝑎𝑘𝑎</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𝐵𝑎𝑛𝑔𝑙𝑎𝑑𝑒𝑠h</m:t>
                          </m:r>
                        </m:e>
                        <m:sup>
                          <m:r>
                            <a:rPr lang="en-US" sz="1400" i="1">
                              <a:solidFill>
                                <a:prstClr val="black"/>
                              </a:solidFill>
                              <a:latin typeface="Cambria Math" panose="02040503050406030204" pitchFamily="18" charset="0"/>
                              <a:ea typeface="Cambria" panose="02040503050406030204" pitchFamily="18" charset="0"/>
                            </a:rPr>
                            <m:t>𝑎</m:t>
                          </m:r>
                        </m:sup>
                      </m:sSup>
                    </m:oMath>
                  </m:oMathPara>
                </a14:m>
                <a:endParaRPr lang="en-US" sz="1400" i="1" dirty="0">
                  <a:solidFill>
                    <a:prstClr val="black"/>
                  </a:solidFill>
                  <a:latin typeface="Cambria" panose="02040503050406030204" pitchFamily="18" charset="0"/>
                  <a:ea typeface="Cambria" panose="02040503050406030204" pitchFamily="18" charset="0"/>
                </a:endParaRPr>
              </a:p>
              <a:p>
                <a:pPr lvl="0" algn="ctr" defTabSz="914400">
                  <a:spcBef>
                    <a:spcPts val="1000"/>
                  </a:spcBef>
                  <a:defRPr/>
                </a:pPr>
                <a14:m>
                  <m:oMathPara xmlns:m="http://schemas.openxmlformats.org/officeDocument/2006/math">
                    <m:oMathParaPr>
                      <m:jc m:val="centerGroup"/>
                    </m:oMathParaPr>
                    <m:oMath xmlns:m="http://schemas.openxmlformats.org/officeDocument/2006/math">
                      <m:sSup>
                        <m:sSupPr>
                          <m:ctrlPr>
                            <a:rPr lang="en-US" sz="1400" i="1">
                              <a:solidFill>
                                <a:prstClr val="black"/>
                              </a:solidFill>
                              <a:latin typeface="Cambria Math" panose="02040503050406030204" pitchFamily="18" charset="0"/>
                              <a:ea typeface="Cambria" panose="02040503050406030204" pitchFamily="18" charset="0"/>
                            </a:rPr>
                          </m:ctrlPr>
                        </m:sSupPr>
                        <m:e>
                          <m:r>
                            <a:rPr lang="en-US" sz="1400" i="1">
                              <a:solidFill>
                                <a:prstClr val="black"/>
                              </a:solidFill>
                              <a:latin typeface="Cambria Math" panose="02040503050406030204" pitchFamily="18" charset="0"/>
                              <a:ea typeface="Cambria" panose="02040503050406030204" pitchFamily="18" charset="0"/>
                            </a:rPr>
                            <m:t>𝐶𝑒𝑛𝑡𝑒𝑟</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𝑓𝑜𝑟</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𝐴𝑑𝑣𝑎𝑛𝑐𝑒𝑑</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𝑀𝑎𝑐h𝑖𝑛𝑒</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𝐿𝑒𝑎𝑟𝑛𝑖𝑛𝑔</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𝑎𝑛𝑑</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𝐴𝑝𝑝𝑙𝑖𝑐𝑎𝑡𝑖𝑜𝑛𝑠</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𝐶𝐴𝑀𝐿𝐴𝑠</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𝐵𝑎𝑠h𝑢𝑛𝑑h𝑎𝑟𝑎</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𝑅</m:t>
                          </m:r>
                          <m:r>
                            <a:rPr lang="en-US" sz="1400" i="1">
                              <a:solidFill>
                                <a:prstClr val="black"/>
                              </a:solidFill>
                              <a:latin typeface="Cambria Math" panose="02040503050406030204" pitchFamily="18" charset="0"/>
                              <a:ea typeface="Cambria" panose="02040503050406030204" pitchFamily="18" charset="0"/>
                            </a:rPr>
                            <m:t>/</m:t>
                          </m:r>
                          <m:r>
                            <a:rPr lang="en-US" sz="1400" i="1">
                              <a:solidFill>
                                <a:prstClr val="black"/>
                              </a:solidFill>
                              <a:latin typeface="Cambria Math" panose="02040503050406030204" pitchFamily="18" charset="0"/>
                              <a:ea typeface="Cambria" panose="02040503050406030204" pitchFamily="18" charset="0"/>
                            </a:rPr>
                            <m:t>𝐴</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𝐷h𝑎𝑘𝑎</m:t>
                          </m:r>
                          <m:r>
                            <a:rPr lang="en-US" sz="1400" i="1">
                              <a:solidFill>
                                <a:prstClr val="black"/>
                              </a:solidFill>
                              <a:latin typeface="Cambria Math" panose="02040503050406030204" pitchFamily="18" charset="0"/>
                              <a:ea typeface="Cambria" panose="02040503050406030204" pitchFamily="18" charset="0"/>
                            </a:rPr>
                            <m:t> 1229, </m:t>
                          </m:r>
                          <m:r>
                            <a:rPr lang="en-US" sz="1400" i="1">
                              <a:solidFill>
                                <a:prstClr val="black"/>
                              </a:solidFill>
                              <a:latin typeface="Cambria Math" panose="02040503050406030204" pitchFamily="18" charset="0"/>
                              <a:ea typeface="Cambria" panose="02040503050406030204" pitchFamily="18" charset="0"/>
                            </a:rPr>
                            <m:t>𝐵𝑎𝑛𝑔𝑙𝑎𝑑𝑒𝑠h</m:t>
                          </m:r>
                        </m:e>
                        <m:sup>
                          <m:r>
                            <a:rPr lang="en-US" sz="1400" b="0" i="1" smtClean="0">
                              <a:solidFill>
                                <a:prstClr val="black"/>
                              </a:solidFill>
                              <a:latin typeface="Cambria Math" panose="02040503050406030204" pitchFamily="18" charset="0"/>
                              <a:ea typeface="Cambria" panose="02040503050406030204" pitchFamily="18" charset="0"/>
                            </a:rPr>
                            <m:t>𝑏</m:t>
                          </m:r>
                        </m:sup>
                      </m:sSup>
                    </m:oMath>
                  </m:oMathPara>
                </a14:m>
                <a:endParaRPr lang="en-US" sz="1400" i="1" dirty="0">
                  <a:solidFill>
                    <a:prstClr val="black"/>
                  </a:solidFill>
                  <a:latin typeface="Cambria" panose="02040503050406030204" pitchFamily="18" charset="0"/>
                  <a:ea typeface="Cambria" panose="02040503050406030204" pitchFamily="18" charset="0"/>
                </a:endParaRPr>
              </a:p>
              <a:p>
                <a:pPr lvl="0" algn="ctr" defTabSz="914400">
                  <a:spcBef>
                    <a:spcPts val="1000"/>
                  </a:spcBef>
                  <a:defRPr/>
                </a:pPr>
                <a14:m>
                  <m:oMathPara xmlns:m="http://schemas.openxmlformats.org/officeDocument/2006/math">
                    <m:oMathParaPr>
                      <m:jc m:val="centerGroup"/>
                    </m:oMathParaPr>
                    <m:oMath xmlns:m="http://schemas.openxmlformats.org/officeDocument/2006/math">
                      <m:sSup>
                        <m:sSupPr>
                          <m:ctrlPr>
                            <a:rPr lang="en-US" sz="1400" i="1">
                              <a:solidFill>
                                <a:prstClr val="black"/>
                              </a:solidFill>
                              <a:latin typeface="Cambria Math" panose="02040503050406030204" pitchFamily="18" charset="0"/>
                              <a:ea typeface="Cambria" panose="02040503050406030204" pitchFamily="18" charset="0"/>
                            </a:rPr>
                          </m:ctrlPr>
                        </m:sSupPr>
                        <m:e>
                          <m:r>
                            <a:rPr lang="en-US" sz="1400" i="1">
                              <a:solidFill>
                                <a:prstClr val="black"/>
                              </a:solidFill>
                              <a:latin typeface="Cambria Math" panose="02040503050406030204" pitchFamily="18" charset="0"/>
                              <a:ea typeface="Cambria" panose="02040503050406030204" pitchFamily="18" charset="0"/>
                            </a:rPr>
                            <m:t>𝐷𝑒𝑝𝑎𝑟𝑡𝑚𝑒𝑛𝑡</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𝑜𝑓</m:t>
                          </m:r>
                          <m:r>
                            <a:rPr lang="en-US" sz="1400" i="1">
                              <a:solidFill>
                                <a:prstClr val="black"/>
                              </a:solidFill>
                              <a:latin typeface="Cambria Math" panose="02040503050406030204" pitchFamily="18" charset="0"/>
                              <a:ea typeface="Cambria" panose="02040503050406030204" pitchFamily="18" charset="0"/>
                            </a:rPr>
                            <m:t> </m:t>
                          </m:r>
                          <m:r>
                            <a:rPr lang="en-US" sz="1400" b="0" i="1" smtClean="0">
                              <a:solidFill>
                                <a:prstClr val="black"/>
                              </a:solidFill>
                              <a:latin typeface="Cambria Math" panose="02040503050406030204" pitchFamily="18" charset="0"/>
                              <a:ea typeface="Cambria" panose="02040503050406030204" pitchFamily="18" charset="0"/>
                            </a:rPr>
                            <m:t>𝑆𝑜𝑓𝑡𝑤𝑎𝑟𝑒</m:t>
                          </m:r>
                          <m:r>
                            <a:rPr lang="en-US" sz="1400" b="0" i="1" smtClean="0">
                              <a:solidFill>
                                <a:prstClr val="black"/>
                              </a:solidFill>
                              <a:latin typeface="Cambria Math" panose="02040503050406030204" pitchFamily="18" charset="0"/>
                              <a:ea typeface="Cambria" panose="02040503050406030204" pitchFamily="18" charset="0"/>
                            </a:rPr>
                            <m:t> </m:t>
                          </m:r>
                          <m:r>
                            <a:rPr lang="en-US" sz="1400" b="0" i="1" smtClean="0">
                              <a:solidFill>
                                <a:prstClr val="black"/>
                              </a:solidFill>
                              <a:latin typeface="Cambria Math" panose="02040503050406030204" pitchFamily="18" charset="0"/>
                              <a:ea typeface="Cambria" panose="02040503050406030204" pitchFamily="18" charset="0"/>
                            </a:rPr>
                            <m:t>𝐸𝑛𝑔𝑖𝑛𝑒𝑒𝑟𝑖𝑛𝑔</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𝐷𝑎𝑓𝑓𝑜𝑑𝑖𝑙</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𝐼𝑛𝑡𝑒𝑟𝑛𝑎𝑡𝑖𝑜𝑛𝑎𝑙</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𝑈𝑛𝑖𝑣𝑒𝑟𝑠𝑖𝑡𝑦</m:t>
                          </m:r>
                          <m:r>
                            <a:rPr lang="en-US" sz="1400" i="1">
                              <a:solidFill>
                                <a:prstClr val="black"/>
                              </a:solidFill>
                              <a:latin typeface="Cambria Math" panose="02040503050406030204" pitchFamily="18" charset="0"/>
                              <a:ea typeface="Cambria" panose="02040503050406030204" pitchFamily="18" charset="0"/>
                            </a:rPr>
                            <m:t> </m:t>
                          </m:r>
                          <m:d>
                            <m:dPr>
                              <m:ctrlPr>
                                <a:rPr lang="en-US" sz="1400" i="1">
                                  <a:solidFill>
                                    <a:prstClr val="black"/>
                                  </a:solidFill>
                                  <a:latin typeface="Cambria Math" panose="02040503050406030204" pitchFamily="18" charset="0"/>
                                  <a:ea typeface="Cambria" panose="02040503050406030204" pitchFamily="18" charset="0"/>
                                </a:rPr>
                              </m:ctrlPr>
                            </m:dPr>
                            <m:e>
                              <m:r>
                                <a:rPr lang="en-US" sz="1400" i="1">
                                  <a:solidFill>
                                    <a:prstClr val="black"/>
                                  </a:solidFill>
                                  <a:latin typeface="Cambria Math" panose="02040503050406030204" pitchFamily="18" charset="0"/>
                                  <a:ea typeface="Cambria" panose="02040503050406030204" pitchFamily="18" charset="0"/>
                                </a:rPr>
                                <m:t>𝐷𝐼𝑈</m:t>
                              </m:r>
                            </m:e>
                          </m:d>
                          <m:r>
                            <a:rPr lang="en-US" sz="1400" i="1">
                              <a:solidFill>
                                <a:prstClr val="black"/>
                              </a:solidFill>
                              <a:latin typeface="Cambria Math" panose="02040503050406030204" pitchFamily="18" charset="0"/>
                              <a:ea typeface="Cambria" panose="02040503050406030204" pitchFamily="18" charset="0"/>
                            </a:rPr>
                            <m:t>,</m:t>
                          </m:r>
                          <m:r>
                            <a:rPr lang="en-US" sz="1400" i="1">
                              <a:solidFill>
                                <a:prstClr val="black"/>
                              </a:solidFill>
                              <a:latin typeface="Cambria Math" panose="02040503050406030204" pitchFamily="18" charset="0"/>
                              <a:ea typeface="Cambria" panose="02040503050406030204" pitchFamily="18" charset="0"/>
                            </a:rPr>
                            <m:t>𝐴𝑠h𝑢𝑙𝑖𝑎</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𝐷h𝑎𝑘𝑎</m:t>
                          </m:r>
                          <m:r>
                            <a:rPr lang="en-US" sz="1400" i="1">
                              <a:solidFill>
                                <a:prstClr val="black"/>
                              </a:solidFill>
                              <a:latin typeface="Cambria Math" panose="02040503050406030204" pitchFamily="18" charset="0"/>
                              <a:ea typeface="Cambria" panose="02040503050406030204" pitchFamily="18" charset="0"/>
                            </a:rPr>
                            <m:t>, </m:t>
                          </m:r>
                          <m:r>
                            <a:rPr lang="en-US" sz="1400" i="1">
                              <a:solidFill>
                                <a:prstClr val="black"/>
                              </a:solidFill>
                              <a:latin typeface="Cambria Math" panose="02040503050406030204" pitchFamily="18" charset="0"/>
                              <a:ea typeface="Cambria" panose="02040503050406030204" pitchFamily="18" charset="0"/>
                            </a:rPr>
                            <m:t>𝐵𝑎𝑛𝑔𝑙𝑎𝑑𝑒𝑠h</m:t>
                          </m:r>
                        </m:e>
                        <m:sup>
                          <m:r>
                            <a:rPr lang="en-US" sz="1400" b="0" i="1" smtClean="0">
                              <a:solidFill>
                                <a:prstClr val="black"/>
                              </a:solidFill>
                              <a:latin typeface="Cambria Math" panose="02040503050406030204" pitchFamily="18" charset="0"/>
                              <a:ea typeface="Cambria" panose="02040503050406030204" pitchFamily="18" charset="0"/>
                            </a:rPr>
                            <m:t>𝑐</m:t>
                          </m:r>
                        </m:sup>
                      </m:sSup>
                    </m:oMath>
                  </m:oMathPara>
                </a14:m>
                <a:endParaRPr lang="en-US" sz="1400" i="1" dirty="0">
                  <a:solidFill>
                    <a:prstClr val="black"/>
                  </a:solidFill>
                  <a:latin typeface="Cambria" panose="02040503050406030204" pitchFamily="18" charset="0"/>
                  <a:ea typeface="Cambria" panose="02040503050406030204" pitchFamily="18" charset="0"/>
                </a:endParaRPr>
              </a:p>
            </p:txBody>
          </p:sp>
        </mc:Choice>
        <mc:Fallback xmlns="">
          <p:sp>
            <p:nvSpPr>
              <p:cNvPr id="20" name="TextBox 19">
                <a:extLst>
                  <a:ext uri="{FF2B5EF4-FFF2-40B4-BE49-F238E27FC236}">
                    <a16:creationId xmlns:a16="http://schemas.microsoft.com/office/drawing/2014/main" id="{9DA5924A-DEA0-2BA2-6EFA-2ED169FB6A43}"/>
                  </a:ext>
                </a:extLst>
              </p:cNvPr>
              <p:cNvSpPr txBox="1">
                <a:spLocks noRot="1" noChangeAspect="1" noMove="1" noResize="1" noEditPoints="1" noAdjustHandles="1" noChangeArrowheads="1" noChangeShapeType="1" noTextEdit="1"/>
              </p:cNvSpPr>
              <p:nvPr/>
            </p:nvSpPr>
            <p:spPr>
              <a:xfrm>
                <a:off x="838200" y="4617532"/>
                <a:ext cx="10037885" cy="760849"/>
              </a:xfrm>
              <a:prstGeom prst="rect">
                <a:avLst/>
              </a:prstGeom>
              <a:blipFill>
                <a:blip r:embed="rId5"/>
                <a:stretch>
                  <a:fillRect b="-3279"/>
                </a:stretch>
              </a:blipFill>
            </p:spPr>
            <p:txBody>
              <a:bodyPr/>
              <a:lstStyle/>
              <a:p>
                <a:r>
                  <a:rPr lang="en-US">
                    <a:noFill/>
                  </a:rPr>
                  <a:t> </a:t>
                </a:r>
              </a:p>
            </p:txBody>
          </p:sp>
        </mc:Fallback>
      </mc:AlternateContent>
      <p:sp>
        <p:nvSpPr>
          <p:cNvPr id="21" name="Rounded Rectangle 20">
            <a:extLst>
              <a:ext uri="{FF2B5EF4-FFF2-40B4-BE49-F238E27FC236}">
                <a16:creationId xmlns:a16="http://schemas.microsoft.com/office/drawing/2014/main" id="{A9425A95-09FA-6440-79BC-AD42141E7F0B}"/>
              </a:ext>
            </a:extLst>
          </p:cNvPr>
          <p:cNvSpPr/>
          <p:nvPr/>
        </p:nvSpPr>
        <p:spPr>
          <a:xfrm>
            <a:off x="745626" y="5512778"/>
            <a:ext cx="8537331" cy="1222130"/>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31973888-0DF3-5F96-6908-0370898AA1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6571" y="5665968"/>
            <a:ext cx="731715" cy="9131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55BE847-8DAA-CE92-CA0B-1E1C282B911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4770" y="5621269"/>
            <a:ext cx="986137" cy="96422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BD80BB27-A122-F8D2-9A27-22D393A3EF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5669" y="5621269"/>
            <a:ext cx="957843" cy="95784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4D9D2108-F2C6-480F-F0F7-E95EAF1BBE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58274" y="5621269"/>
            <a:ext cx="986138" cy="99283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4C1BECE3-F1F5-4539-0B5A-ADDECD0D45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59174" y="5621270"/>
            <a:ext cx="986138" cy="98613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A close-up of logos&#10;&#10;AI-generated content may be incorrect.">
            <a:extLst>
              <a:ext uri="{FF2B5EF4-FFF2-40B4-BE49-F238E27FC236}">
                <a16:creationId xmlns:a16="http://schemas.microsoft.com/office/drawing/2014/main" id="{2804C54D-6E57-FFD3-2AF6-10F26200902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593501" y="5723792"/>
            <a:ext cx="1966278" cy="821166"/>
          </a:xfrm>
          <a:prstGeom prst="rect">
            <a:avLst/>
          </a:prstGeom>
        </p:spPr>
      </p:pic>
      <p:sp>
        <p:nvSpPr>
          <p:cNvPr id="24" name="TextBox 23">
            <a:extLst>
              <a:ext uri="{FF2B5EF4-FFF2-40B4-BE49-F238E27FC236}">
                <a16:creationId xmlns:a16="http://schemas.microsoft.com/office/drawing/2014/main" id="{464A8686-0F52-7639-9452-DBCC50FC3962}"/>
              </a:ext>
            </a:extLst>
          </p:cNvPr>
          <p:cNvSpPr txBox="1"/>
          <p:nvPr/>
        </p:nvSpPr>
        <p:spPr>
          <a:xfrm>
            <a:off x="3276190" y="4256641"/>
            <a:ext cx="5639621" cy="307777"/>
          </a:xfrm>
          <a:prstGeom prst="rect">
            <a:avLst/>
          </a:prstGeom>
          <a:noFill/>
        </p:spPr>
        <p:txBody>
          <a:bodyPr wrap="none" rtlCol="0">
            <a:spAutoFit/>
          </a:bodyPr>
          <a:lstStyle/>
          <a:p>
            <a:pPr algn="ctr"/>
            <a:r>
              <a:rPr lang="en-US" sz="1400" i="1" dirty="0">
                <a:latin typeface="Times New Roman" panose="02020603050405020304" pitchFamily="18" charset="0"/>
                <a:cs typeface="Times New Roman" panose="02020603050405020304" pitchFamily="18" charset="0"/>
                <a:hlinkClick r:id="rId12"/>
              </a:rPr>
              <a:t>rudra16-563@diu.edu.bd</a:t>
            </a:r>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hlinkClick r:id="rId13"/>
              </a:rPr>
              <a:t>drhasan.swe@diu.edu.bd</a:t>
            </a:r>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hlinkClick r:id="rId14"/>
              </a:rPr>
              <a:t>faruk.cis@diu.edu.bd</a:t>
            </a:r>
            <a:endParaRPr lang="en-US" sz="1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369717"/>
      </p:ext>
    </p:extLst>
  </p:cSld>
  <p:clrMapOvr>
    <a:masterClrMapping/>
  </p:clrMapOvr>
  <mc:AlternateContent xmlns:mc="http://schemas.openxmlformats.org/markup-compatibility/2006" xmlns:p14="http://schemas.microsoft.com/office/powerpoint/2010/main">
    <mc:Choice Requires="p14">
      <p:transition spd="slow" p14:dur="2000" advTm="32428"/>
    </mc:Choice>
    <mc:Fallback xmlns="">
      <p:transition spd="slow" advTm="3242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222FBF-C2DF-45B3-8F03-96512D013153}"/>
              </a:ext>
            </a:extLst>
          </p:cNvPr>
          <p:cNvSpPr txBox="1"/>
          <p:nvPr/>
        </p:nvSpPr>
        <p:spPr>
          <a:xfrm flipH="1">
            <a:off x="8651631" y="344990"/>
            <a:ext cx="3254804" cy="707886"/>
          </a:xfrm>
          <a:prstGeom prst="rect">
            <a:avLst/>
          </a:prstGeom>
          <a:noFill/>
          <a:ln>
            <a:noFill/>
          </a:ln>
          <a:effectLst/>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Outline</a:t>
            </a:r>
          </a:p>
        </p:txBody>
      </p:sp>
      <p:sp>
        <p:nvSpPr>
          <p:cNvPr id="12" name="TextBox 11">
            <a:extLst>
              <a:ext uri="{FF2B5EF4-FFF2-40B4-BE49-F238E27FC236}">
                <a16:creationId xmlns:a16="http://schemas.microsoft.com/office/drawing/2014/main" id="{2CB15425-A745-42F4-8D90-ACD509E03230}"/>
              </a:ext>
            </a:extLst>
          </p:cNvPr>
          <p:cNvSpPr txBox="1"/>
          <p:nvPr/>
        </p:nvSpPr>
        <p:spPr>
          <a:xfrm>
            <a:off x="731079" y="1759815"/>
            <a:ext cx="4837383" cy="3349956"/>
          </a:xfrm>
          <a:prstGeom prst="rect">
            <a:avLst/>
          </a:prstGeom>
          <a:noFill/>
        </p:spPr>
        <p:txBody>
          <a:bodyPr wrap="square" rtlCol="0">
            <a:spAutoFit/>
          </a:bodyPr>
          <a:lstStyle/>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Introduction</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Problem Statement</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Related Work</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Research Question</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Objective</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Impact &amp; Outcome</a:t>
            </a:r>
          </a:p>
        </p:txBody>
      </p:sp>
      <p:cxnSp>
        <p:nvCxnSpPr>
          <p:cNvPr id="21" name="Straight Connector 20">
            <a:extLst>
              <a:ext uri="{FF2B5EF4-FFF2-40B4-BE49-F238E27FC236}">
                <a16:creationId xmlns:a16="http://schemas.microsoft.com/office/drawing/2014/main" id="{45253915-89B9-4807-AEFC-DA141BC80A90}"/>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2" name="Rectangle 1">
            <a:extLst>
              <a:ext uri="{FF2B5EF4-FFF2-40B4-BE49-F238E27FC236}">
                <a16:creationId xmlns:a16="http://schemas.microsoft.com/office/drawing/2014/main" id="{0EF9F8C8-F114-F09B-3A36-BF27CBD8CD15}"/>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3">
            <a:extLst>
              <a:ext uri="{FF2B5EF4-FFF2-40B4-BE49-F238E27FC236}">
                <a16:creationId xmlns:a16="http://schemas.microsoft.com/office/drawing/2014/main" id="{10DA0A9F-063E-35D1-DEF0-ED1DC68AC91D}"/>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7025BBC-2374-CAE6-0CD4-72986B747092}"/>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0" name="TextBox 9">
            <a:extLst>
              <a:ext uri="{FF2B5EF4-FFF2-40B4-BE49-F238E27FC236}">
                <a16:creationId xmlns:a16="http://schemas.microsoft.com/office/drawing/2014/main" id="{573F25F0-05DB-9FFF-9E35-83CEDE6DB806}"/>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2</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97E8EBD-CA91-458A-8221-F826FDAB18E3}"/>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sp>
        <p:nvSpPr>
          <p:cNvPr id="14" name="TextBox 13">
            <a:extLst>
              <a:ext uri="{FF2B5EF4-FFF2-40B4-BE49-F238E27FC236}">
                <a16:creationId xmlns:a16="http://schemas.microsoft.com/office/drawing/2014/main" id="{E6562C6E-4CFC-0B65-2C69-E61025863A01}"/>
              </a:ext>
            </a:extLst>
          </p:cNvPr>
          <p:cNvSpPr txBox="1"/>
          <p:nvPr/>
        </p:nvSpPr>
        <p:spPr>
          <a:xfrm>
            <a:off x="6201508" y="1759815"/>
            <a:ext cx="5283110" cy="2795958"/>
          </a:xfrm>
          <a:prstGeom prst="rect">
            <a:avLst/>
          </a:prstGeom>
          <a:noFill/>
        </p:spPr>
        <p:txBody>
          <a:bodyPr wrap="square">
            <a:spAutoFit/>
          </a:bodyPr>
          <a:lstStyle/>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Methodology</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Result</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Conclusion</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Future Work</a:t>
            </a:r>
          </a:p>
          <a:p>
            <a:pPr marL="342900" indent="-342900">
              <a:lnSpc>
                <a:spcPct val="150000"/>
              </a:lnSpc>
              <a:buClr>
                <a:schemeClr val="tx2"/>
              </a:buClr>
              <a:buFont typeface="Wingdings" panose="05000000000000000000" pitchFamily="2" charset="2"/>
              <a:buChar char="Ø"/>
            </a:pPr>
            <a:r>
              <a:rPr lang="en-US" sz="2400" dirty="0">
                <a:latin typeface="Times New Roman" pitchFamily="18" charset="0"/>
                <a:cs typeface="Times New Roman" pitchFamily="18" charset="0"/>
              </a:rPr>
              <a:t>References</a:t>
            </a:r>
          </a:p>
        </p:txBody>
      </p:sp>
      <p:pic>
        <p:nvPicPr>
          <p:cNvPr id="2050" name="Picture 2">
            <a:extLst>
              <a:ext uri="{FF2B5EF4-FFF2-40B4-BE49-F238E27FC236}">
                <a16:creationId xmlns:a16="http://schemas.microsoft.com/office/drawing/2014/main" id="{B0FDF49C-521A-B72D-3038-9D826E7BBC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187905"/>
      </p:ext>
    </p:extLst>
  </p:cSld>
  <p:clrMapOvr>
    <a:masterClrMapping/>
  </p:clrMapOvr>
  <mc:AlternateContent xmlns:mc="http://schemas.openxmlformats.org/markup-compatibility/2006" xmlns:p14="http://schemas.microsoft.com/office/powerpoint/2010/main">
    <mc:Choice Requires="p14">
      <p:transition spd="slow" p14:dur="2000" advTm="20004"/>
    </mc:Choice>
    <mc:Fallback xmlns="">
      <p:transition spd="slow" advTm="2000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E194E339-9A9F-4853-AFB1-A1425C34EC03}"/>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2CB15425-A745-42F4-8D90-ACD509E03230}"/>
              </a:ext>
            </a:extLst>
          </p:cNvPr>
          <p:cNvSpPr txBox="1"/>
          <p:nvPr/>
        </p:nvSpPr>
        <p:spPr>
          <a:xfrm>
            <a:off x="596536" y="1451443"/>
            <a:ext cx="10998927" cy="4659609"/>
          </a:xfrm>
          <a:prstGeom prst="rect">
            <a:avLst/>
          </a:prstGeom>
          <a:noFill/>
        </p:spPr>
        <p:txBody>
          <a:bodyPr wrap="square" rtlCol="0">
            <a:spAutoFit/>
          </a:bodyPr>
          <a:lstStyle/>
          <a:p>
            <a:pPr marL="285750"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Alzheimer’s Disease (AD)</a:t>
            </a:r>
            <a:r>
              <a:rPr lang="en-US" sz="2000" dirty="0">
                <a:latin typeface="Times New Roman" pitchFamily="18" charset="0"/>
                <a:cs typeface="Times New Roman" pitchFamily="18" charset="0"/>
              </a:rPr>
              <a:t> is a progressive neurodegenerative disorder and the most common cause of dementia worldwide.</a:t>
            </a:r>
          </a:p>
          <a:p>
            <a:pPr marL="285750" indent="-285750" algn="just">
              <a:lnSpc>
                <a:spcPct val="150000"/>
              </a:lnSpc>
              <a:buClr>
                <a:schemeClr val="tx2"/>
              </a:buClr>
              <a:buFont typeface="Wingdings" panose="05000000000000000000" pitchFamily="2" charset="2"/>
              <a:buChar char="Ø"/>
            </a:pPr>
            <a:r>
              <a:rPr lang="en-US" sz="2000" dirty="0">
                <a:latin typeface="Times New Roman" pitchFamily="18" charset="0"/>
                <a:cs typeface="Times New Roman" pitchFamily="18" charset="0"/>
              </a:rPr>
              <a:t>The prevalence of dementia is expected to nearly </a:t>
            </a:r>
            <a:r>
              <a:rPr lang="en-US" sz="2000" b="1" dirty="0">
                <a:latin typeface="Times New Roman" pitchFamily="18" charset="0"/>
                <a:cs typeface="Times New Roman" pitchFamily="18" charset="0"/>
              </a:rPr>
              <a:t>triple by 2050</a:t>
            </a:r>
            <a:r>
              <a:rPr lang="en-US" sz="2000" dirty="0">
                <a:latin typeface="Times New Roman" pitchFamily="18" charset="0"/>
                <a:cs typeface="Times New Roman" pitchFamily="18" charset="0"/>
              </a:rPr>
              <a:t>, posing significant social and economic burdens.</a:t>
            </a:r>
          </a:p>
          <a:p>
            <a:pPr marL="285750"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Early diagnosis is crucial </a:t>
            </a:r>
            <a:r>
              <a:rPr lang="en-US" sz="2000" dirty="0">
                <a:latin typeface="Times New Roman" pitchFamily="18" charset="0"/>
                <a:cs typeface="Times New Roman" pitchFamily="18" charset="0"/>
              </a:rPr>
              <a:t>as AD pathology begins decades before clinical symptoms appear, but it remains a major challenge.</a:t>
            </a:r>
          </a:p>
          <a:p>
            <a:pPr marL="285750" indent="-285750" algn="just">
              <a:lnSpc>
                <a:spcPct val="150000"/>
              </a:lnSpc>
              <a:buClr>
                <a:schemeClr val="tx2"/>
              </a:buClr>
              <a:buFont typeface="Wingdings" panose="05000000000000000000" pitchFamily="2" charset="2"/>
              <a:buChar char="Ø"/>
            </a:pPr>
            <a:r>
              <a:rPr lang="en-US" sz="2000" dirty="0">
                <a:latin typeface="Times New Roman" pitchFamily="18" charset="0"/>
                <a:cs typeface="Times New Roman" pitchFamily="18" charset="0"/>
              </a:rPr>
              <a:t>Neuroimaging techniques like </a:t>
            </a:r>
            <a:r>
              <a:rPr lang="en-US" sz="2000" b="1" dirty="0">
                <a:latin typeface="Times New Roman" pitchFamily="18" charset="0"/>
                <a:cs typeface="Times New Roman" pitchFamily="18" charset="0"/>
              </a:rPr>
              <a:t>Magnetic Resonance Imaging (MRI) </a:t>
            </a:r>
            <a:r>
              <a:rPr lang="en-US" sz="2000" dirty="0">
                <a:latin typeface="Times New Roman" pitchFamily="18" charset="0"/>
                <a:cs typeface="Times New Roman" pitchFamily="18" charset="0"/>
              </a:rPr>
              <a:t>are vital for visualizing structural brain changes associated with AD.</a:t>
            </a:r>
          </a:p>
          <a:p>
            <a:pPr marL="285750"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Deep Learning </a:t>
            </a:r>
            <a:r>
              <a:rPr lang="en-US" sz="2000" dirty="0">
                <a:latin typeface="Times New Roman" pitchFamily="18" charset="0"/>
                <a:cs typeface="Times New Roman" pitchFamily="18" charset="0"/>
              </a:rPr>
              <a:t>shows promise in analyzing medical images but often requires vast amounts of labeled data, which is scarce and expensive to obtain in medical domain.</a:t>
            </a:r>
          </a:p>
        </p:txBody>
      </p:sp>
      <p:sp>
        <p:nvSpPr>
          <p:cNvPr id="5" name="TextBox 4">
            <a:extLst>
              <a:ext uri="{FF2B5EF4-FFF2-40B4-BE49-F238E27FC236}">
                <a16:creationId xmlns:a16="http://schemas.microsoft.com/office/drawing/2014/main" id="{0548F1DE-45B2-C138-54CA-EDAF65826073}"/>
              </a:ext>
            </a:extLst>
          </p:cNvPr>
          <p:cNvSpPr txBox="1"/>
          <p:nvPr/>
        </p:nvSpPr>
        <p:spPr>
          <a:xfrm flipH="1">
            <a:off x="7403123" y="344990"/>
            <a:ext cx="450331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cxnSp>
        <p:nvCxnSpPr>
          <p:cNvPr id="8" name="Straight Connector 7">
            <a:extLst>
              <a:ext uri="{FF2B5EF4-FFF2-40B4-BE49-F238E27FC236}">
                <a16:creationId xmlns:a16="http://schemas.microsoft.com/office/drawing/2014/main" id="{AFA0C787-E07A-527E-C82E-52CEF0BE1950}"/>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9C843166-2B64-884F-7377-1E4B8A731AFB}"/>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3904FE1D-683F-632A-21EE-E9209E05C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81D7901-9255-540D-C565-DD733A9ED001}"/>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4F6751F1-7356-1A7B-7CBC-BE216C727A2E}"/>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A6746C5-905F-FF3A-F6DE-8D488550369F}"/>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B7E4D4FC-75FA-DC54-12AE-689B50A8D326}"/>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3</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7554914"/>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FF41D-B7A5-F40E-2F68-A75EE040BF09}"/>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29DD9DCC-AC46-9F14-48E7-9599A1B27906}"/>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A65C9456-AD2F-29F4-7FD1-3538A41A3972}"/>
              </a:ext>
            </a:extLst>
          </p:cNvPr>
          <p:cNvSpPr txBox="1"/>
          <p:nvPr/>
        </p:nvSpPr>
        <p:spPr>
          <a:xfrm>
            <a:off x="285565" y="1260039"/>
            <a:ext cx="11620869" cy="5115311"/>
          </a:xfrm>
          <a:prstGeom prst="rect">
            <a:avLst/>
          </a:prstGeom>
          <a:noFill/>
        </p:spPr>
        <p:txBody>
          <a:bodyPr wrap="square" rtlCol="0">
            <a:spAutoFit/>
          </a:bodyPr>
          <a:lstStyle/>
          <a:p>
            <a:pPr algn="just">
              <a:lnSpc>
                <a:spcPct val="150000"/>
              </a:lnSpc>
              <a:buClr>
                <a:schemeClr val="tx2"/>
              </a:buClr>
            </a:pPr>
            <a:r>
              <a:rPr lang="en-US" sz="2000" dirty="0">
                <a:latin typeface="Times New Roman" pitchFamily="18" charset="0"/>
                <a:cs typeface="Times New Roman" pitchFamily="18" charset="0"/>
              </a:rPr>
              <a:t>The successful application of deep learning for Alzheimer’s diagnosis is severely hindered by its reliance on large, annotated datasets, which presents three critical challenges in a clinical context:</a:t>
            </a: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The Annotation Bottleneck: </a:t>
            </a:r>
            <a:r>
              <a:rPr lang="en-US" sz="2000" dirty="0">
                <a:latin typeface="Times New Roman" pitchFamily="18" charset="0"/>
                <a:cs typeface="Times New Roman" pitchFamily="18" charset="0"/>
              </a:rPr>
              <a:t>Manually labeling thousands of MRI scans requires significant time and cost from clinical experts. This process is not only a major bottleneck but can also introduce bias and inconsistencies, limiting the scale and quality of training data.</a:t>
            </a: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Poor Generalization to Real-World Data: </a:t>
            </a:r>
            <a:r>
              <a:rPr lang="en-US" sz="2000" dirty="0">
                <a:latin typeface="Times New Roman" pitchFamily="18" charset="0"/>
                <a:cs typeface="Times New Roman" pitchFamily="18" charset="0"/>
              </a:rPr>
              <a:t>Models trained on limited, homogenous datasets often fail to generalize to the diverse range of patients, imaging protocols, and equipment found in different hospitals. This “generalization gap” makes them unreliable for widespread clinical use.</a:t>
            </a: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Failure to Recognize Rare Disease Stages: </a:t>
            </a:r>
            <a:r>
              <a:rPr lang="en-US" sz="2000" dirty="0">
                <a:latin typeface="Times New Roman" pitchFamily="18" charset="0"/>
                <a:cs typeface="Times New Roman" pitchFamily="18" charset="0"/>
              </a:rPr>
              <a:t>Standard supervised models struggle with severe class imbalance. For instance, in our dataset, the “Moderate Dementia” class is extremely rare (0.5%), leading to models that are poorly trained to identify less common but critical stages of the disease.</a:t>
            </a:r>
          </a:p>
        </p:txBody>
      </p:sp>
      <p:sp>
        <p:nvSpPr>
          <p:cNvPr id="5" name="TextBox 4">
            <a:extLst>
              <a:ext uri="{FF2B5EF4-FFF2-40B4-BE49-F238E27FC236}">
                <a16:creationId xmlns:a16="http://schemas.microsoft.com/office/drawing/2014/main" id="{339026E6-984B-28DD-FAC0-E2982FE496E4}"/>
              </a:ext>
            </a:extLst>
          </p:cNvPr>
          <p:cNvSpPr txBox="1"/>
          <p:nvPr/>
        </p:nvSpPr>
        <p:spPr>
          <a:xfrm flipH="1">
            <a:off x="7403123" y="344990"/>
            <a:ext cx="450331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 Statement</a:t>
            </a:r>
          </a:p>
        </p:txBody>
      </p:sp>
      <p:cxnSp>
        <p:nvCxnSpPr>
          <p:cNvPr id="8" name="Straight Connector 7">
            <a:extLst>
              <a:ext uri="{FF2B5EF4-FFF2-40B4-BE49-F238E27FC236}">
                <a16:creationId xmlns:a16="http://schemas.microsoft.com/office/drawing/2014/main" id="{8C2E416B-AB88-B0D0-CDE9-6F11C598BE25}"/>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51877011-0201-E8EE-6CE7-174759D4829B}"/>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87A1054C-9F2E-CABF-7A1C-3E25B9709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8C5E0AD1-5EFD-32D6-AF22-5C4B45AFA721}"/>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A285FD43-7BF9-95D8-55AF-CF1573263434}"/>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62C340-2239-9F50-0A1A-FD077067060B}"/>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E794DB16-8E5A-BDAF-038F-D448BC1493EB}"/>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4</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679536"/>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E1267-5DC6-BCD4-1FB6-72D1332AE937}"/>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21426785-797D-E5D1-EFBF-0EE1362B0B89}"/>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903154BB-E530-B77F-F97E-BDF6DF71B0FC}"/>
              </a:ext>
            </a:extLst>
          </p:cNvPr>
          <p:cNvSpPr txBox="1"/>
          <p:nvPr/>
        </p:nvSpPr>
        <p:spPr>
          <a:xfrm>
            <a:off x="596536" y="1451443"/>
            <a:ext cx="10998927" cy="4038093"/>
          </a:xfrm>
          <a:prstGeom prst="rect">
            <a:avLst/>
          </a:prstGeom>
          <a:noFill/>
        </p:spPr>
        <p:txBody>
          <a:bodyPr wrap="square" rtlCol="0">
            <a:spAutoFit/>
          </a:bodyPr>
          <a:lstStyle/>
          <a:p>
            <a:pPr algn="just">
              <a:lnSpc>
                <a:spcPct val="150000"/>
              </a:lnSpc>
              <a:buClr>
                <a:schemeClr val="tx2"/>
              </a:buClr>
            </a:pPr>
            <a:r>
              <a:rPr lang="en-US" sz="2000" dirty="0">
                <a:latin typeface="Times New Roman" pitchFamily="18" charset="0"/>
                <a:cs typeface="Times New Roman" pitchFamily="18" charset="0"/>
              </a:rPr>
              <a:t>Our research builds on a foundation of supervised and self-supervised methods for AD diagnosis:</a:t>
            </a:r>
          </a:p>
          <a:p>
            <a:pPr marL="285750" indent="-285750" algn="just">
              <a:buClr>
                <a:schemeClr val="tx2"/>
              </a:buClr>
              <a:buFont typeface="Wingdings" panose="05000000000000000000" pitchFamily="2" charset="2"/>
              <a:buChar char="Ø"/>
            </a:pPr>
            <a:endParaRPr lang="en-US" sz="2000" dirty="0">
              <a:latin typeface="Times New Roman" pitchFamily="18" charset="0"/>
              <a:cs typeface="Times New Roman" pitchFamily="18" charset="0"/>
            </a:endParaRPr>
          </a:p>
          <a:p>
            <a:pPr marL="285750"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Supervised Deep Learning:</a:t>
            </a: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Murugan et al. (2021): </a:t>
            </a:r>
            <a:r>
              <a:rPr lang="en-US" sz="2000" dirty="0">
                <a:latin typeface="Times New Roman" pitchFamily="18" charset="0"/>
                <a:cs typeface="Times New Roman" pitchFamily="18" charset="0"/>
              </a:rPr>
              <a:t>Developed “Dem-Net,” a supervised deep learning model that achieved high accuracy (95.23%) for AD diagnosis from MRI scans [1].</a:t>
            </a: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Fan et al. (2021): </a:t>
            </a:r>
            <a:r>
              <a:rPr lang="en-US" sz="2000" dirty="0">
                <a:latin typeface="Times New Roman" pitchFamily="18" charset="0"/>
                <a:cs typeface="Times New Roman" pitchFamily="18" charset="0"/>
              </a:rPr>
              <a:t>Employed a U-Net-based architecture, typically used for segmentation, to analyze MRIs for AD diagnosis [2].</a:t>
            </a: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Helaly et al. (2022): </a:t>
            </a:r>
            <a:r>
              <a:rPr lang="en-US" sz="2000" dirty="0">
                <a:latin typeface="Times New Roman" pitchFamily="18" charset="0"/>
                <a:cs typeface="Times New Roman" pitchFamily="18" charset="0"/>
              </a:rPr>
              <a:t>Focused on deep MRI segmentation for AD detection, emphasizing the importance of precise anatomical mapping [3].</a:t>
            </a:r>
          </a:p>
        </p:txBody>
      </p:sp>
      <p:sp>
        <p:nvSpPr>
          <p:cNvPr id="5" name="TextBox 4">
            <a:extLst>
              <a:ext uri="{FF2B5EF4-FFF2-40B4-BE49-F238E27FC236}">
                <a16:creationId xmlns:a16="http://schemas.microsoft.com/office/drawing/2014/main" id="{3E9B00BD-EAE9-864A-A40A-FCED76C50811}"/>
              </a:ext>
            </a:extLst>
          </p:cNvPr>
          <p:cNvSpPr txBox="1"/>
          <p:nvPr/>
        </p:nvSpPr>
        <p:spPr>
          <a:xfrm flipH="1">
            <a:off x="7403123" y="344990"/>
            <a:ext cx="450331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Related Work</a:t>
            </a:r>
          </a:p>
        </p:txBody>
      </p:sp>
      <p:cxnSp>
        <p:nvCxnSpPr>
          <p:cNvPr id="8" name="Straight Connector 7">
            <a:extLst>
              <a:ext uri="{FF2B5EF4-FFF2-40B4-BE49-F238E27FC236}">
                <a16:creationId xmlns:a16="http://schemas.microsoft.com/office/drawing/2014/main" id="{FC68DD49-E8E0-5A87-4591-65C1396A204A}"/>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119D6190-EA61-CCA7-F002-6B0E1E3170C4}"/>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7F39C308-7B23-EE62-EBDE-31B2B274A4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4D6ACB6E-7D60-4E44-ADED-BD68990B9F0C}"/>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C1CAA3B0-208C-8BAE-A378-8456DDCF382D}"/>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FCA98EF-6CB7-7773-9453-DD686200FDA0}"/>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DDC6C5B3-E712-6774-018A-5CD9BAEA97C8}"/>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5</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437339"/>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9C6FC-044C-EE45-32E3-88541B18F538}"/>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17293883-BD14-4004-0947-EB04796F6890}"/>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411A27BF-737C-3CD7-D49E-417ACF9B5CE5}"/>
              </a:ext>
            </a:extLst>
          </p:cNvPr>
          <p:cNvSpPr txBox="1"/>
          <p:nvPr/>
        </p:nvSpPr>
        <p:spPr>
          <a:xfrm>
            <a:off x="596536" y="1463090"/>
            <a:ext cx="10998927" cy="4653646"/>
          </a:xfrm>
          <a:prstGeom prst="rect">
            <a:avLst/>
          </a:prstGeom>
          <a:noFill/>
        </p:spPr>
        <p:txBody>
          <a:bodyPr wrap="square" rtlCol="0">
            <a:spAutoFit/>
          </a:bodyPr>
          <a:lstStyle/>
          <a:p>
            <a:pPr marL="285750"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Self-Supervised &amp; Contrastive Learning:</a:t>
            </a: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Kwak et al. (2023): </a:t>
            </a:r>
            <a:r>
              <a:rPr lang="en-US" sz="2000" dirty="0">
                <a:latin typeface="Times New Roman" pitchFamily="18" charset="0"/>
                <a:cs typeface="Times New Roman" pitchFamily="18" charset="0"/>
              </a:rPr>
              <a:t>Used self-supervised contrastive learning on 3D PET scans to predict disease progression, showing SSL’s utility beyond classification [4].</a:t>
            </a:r>
          </a:p>
          <a:p>
            <a:pPr marL="742950" lvl="1" indent="-285750" algn="just">
              <a:lnSpc>
                <a:spcPct val="150000"/>
              </a:lnSpc>
              <a:buClr>
                <a:schemeClr val="tx2"/>
              </a:buClr>
              <a:buFont typeface="Wingdings" panose="05000000000000000000" pitchFamily="2" charset="2"/>
              <a:buChar char="Ø"/>
            </a:pPr>
            <a:endParaRPr lang="en-US" sz="2000" dirty="0">
              <a:latin typeface="Times New Roman" pitchFamily="18" charset="0"/>
              <a:cs typeface="Times New Roman" pitchFamily="18" charset="0"/>
            </a:endParaRPr>
          </a:p>
          <a:p>
            <a:pPr marL="742950" lvl="1"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Li et al. (2025): </a:t>
            </a:r>
            <a:r>
              <a:rPr lang="en-US" sz="2000" dirty="0">
                <a:latin typeface="Times New Roman" pitchFamily="18" charset="0"/>
                <a:cs typeface="Times New Roman" pitchFamily="18" charset="0"/>
              </a:rPr>
              <a:t>Proposed a specific contrastive learning framework (CLFAD), confirming the growing trend of using this approach for AD classification [5].</a:t>
            </a:r>
          </a:p>
          <a:p>
            <a:pPr marL="742950" lvl="1" indent="-285750" algn="just">
              <a:lnSpc>
                <a:spcPct val="150000"/>
              </a:lnSpc>
              <a:buClr>
                <a:schemeClr val="tx2"/>
              </a:buClr>
              <a:buFont typeface="Wingdings" panose="05000000000000000000" pitchFamily="2" charset="2"/>
              <a:buChar char="Ø"/>
            </a:pPr>
            <a:endParaRPr lang="en-US" sz="2000" dirty="0">
              <a:latin typeface="Times New Roman" pitchFamily="18" charset="0"/>
              <a:cs typeface="Times New Roman" pitchFamily="18" charset="0"/>
            </a:endParaRPr>
          </a:p>
          <a:p>
            <a:pPr marL="285750" indent="-285750" algn="just">
              <a:lnSpc>
                <a:spcPct val="150000"/>
              </a:lnSpc>
              <a:buClr>
                <a:schemeClr val="tx2"/>
              </a:buClr>
              <a:buFont typeface="Wingdings" panose="05000000000000000000" pitchFamily="2" charset="2"/>
              <a:buChar char="Ø"/>
            </a:pPr>
            <a:r>
              <a:rPr lang="en-US" sz="2000" b="1" dirty="0">
                <a:latin typeface="Times New Roman" pitchFamily="18" charset="0"/>
                <a:cs typeface="Times New Roman" pitchFamily="18" charset="0"/>
              </a:rPr>
              <a:t>Our Contribution: </a:t>
            </a:r>
            <a:r>
              <a:rPr lang="en-US" sz="2000" dirty="0">
                <a:latin typeface="Times New Roman" pitchFamily="18" charset="0"/>
                <a:cs typeface="Times New Roman" pitchFamily="18" charset="0"/>
              </a:rPr>
              <a:t>While these studies show promise, our work provides a direct, comprehensive comparison of multiple SSL techniques (</a:t>
            </a:r>
            <a:r>
              <a:rPr lang="en-US" sz="2000" dirty="0" err="1">
                <a:latin typeface="Times New Roman" pitchFamily="18" charset="0"/>
                <a:cs typeface="Times New Roman" pitchFamily="18" charset="0"/>
              </a:rPr>
              <a:t>SimCLR</a:t>
            </a:r>
            <a:r>
              <a:rPr lang="en-US" sz="2000" dirty="0">
                <a:latin typeface="Times New Roman" pitchFamily="18" charset="0"/>
                <a:cs typeface="Times New Roman" pitchFamily="18" charset="0"/>
              </a:rPr>
              <a:t>, BYOL, DINO) and rigorously evaluates their label efficiency on a multi-class MRI dataset.</a:t>
            </a:r>
          </a:p>
        </p:txBody>
      </p:sp>
      <p:sp>
        <p:nvSpPr>
          <p:cNvPr id="5" name="TextBox 4">
            <a:extLst>
              <a:ext uri="{FF2B5EF4-FFF2-40B4-BE49-F238E27FC236}">
                <a16:creationId xmlns:a16="http://schemas.microsoft.com/office/drawing/2014/main" id="{F358536F-3FE3-5FB1-0FA4-537825716A17}"/>
              </a:ext>
            </a:extLst>
          </p:cNvPr>
          <p:cNvSpPr txBox="1"/>
          <p:nvPr/>
        </p:nvSpPr>
        <p:spPr>
          <a:xfrm flipH="1">
            <a:off x="6796454" y="344990"/>
            <a:ext cx="5109981"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Related Work Cont.</a:t>
            </a:r>
          </a:p>
        </p:txBody>
      </p:sp>
      <p:cxnSp>
        <p:nvCxnSpPr>
          <p:cNvPr id="8" name="Straight Connector 7">
            <a:extLst>
              <a:ext uri="{FF2B5EF4-FFF2-40B4-BE49-F238E27FC236}">
                <a16:creationId xmlns:a16="http://schemas.microsoft.com/office/drawing/2014/main" id="{7F09328A-6D61-6D86-0C0E-C0DCBF8010E9}"/>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B9E0768F-BB07-A9C0-8186-E007A979AE7B}"/>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BBA98611-8531-062E-4554-19C185BDE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C61772E4-E9C9-43C0-10AB-11482F3E0A68}"/>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79FC537A-8DA7-CEDC-9D8F-1EA3104277A4}"/>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0E43FF0-811A-46FA-1BB5-284A14869459}"/>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2A95DA85-858A-7116-BFF2-B46A0D414EB5}"/>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6</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3159409"/>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5DE5C-6C35-99DE-7CC6-627290DBCB52}"/>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AB06FD04-B761-4BB0-FF22-CD21EDD74A70}"/>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E6BDA309-69CB-F402-C4F3-56334B7238E2}"/>
              </a:ext>
            </a:extLst>
          </p:cNvPr>
          <p:cNvSpPr txBox="1"/>
          <p:nvPr/>
        </p:nvSpPr>
        <p:spPr>
          <a:xfrm>
            <a:off x="596536" y="1451443"/>
            <a:ext cx="10998927" cy="1729769"/>
          </a:xfrm>
          <a:prstGeom prst="rect">
            <a:avLst/>
          </a:prstGeom>
          <a:noFill/>
        </p:spPr>
        <p:txBody>
          <a:bodyPr wrap="square" rtlCol="0">
            <a:spAutoFit/>
          </a:bodyPr>
          <a:lstStyle/>
          <a:p>
            <a:pPr algn="just">
              <a:buClr>
                <a:schemeClr val="tx2"/>
              </a:buClr>
            </a:pPr>
            <a:endParaRPr lang="en-US" sz="2000" dirty="0">
              <a:latin typeface="Times New Roman" pitchFamily="18" charset="0"/>
              <a:cs typeface="Times New Roman" pitchFamily="18" charset="0"/>
            </a:endParaRPr>
          </a:p>
          <a:p>
            <a:pPr marL="742950" lvl="1" indent="-285750" algn="just">
              <a:lnSpc>
                <a:spcPct val="150000"/>
              </a:lnSpc>
              <a:buClr>
                <a:schemeClr val="tx2"/>
              </a:buClr>
              <a:buFont typeface="Wingdings" panose="05000000000000000000" pitchFamily="2" charset="2"/>
              <a:buChar char="Ø"/>
            </a:pPr>
            <a:r>
              <a:rPr lang="en-US" sz="2000" dirty="0">
                <a:latin typeface="Times New Roman" pitchFamily="18" charset="0"/>
                <a:cs typeface="Times New Roman" pitchFamily="18" charset="0"/>
              </a:rPr>
              <a:t>Can a contrastive self-supervised learning framework effectively leverage unlabeled MRI data to learn discriminative features for accurate multi-class Alzheimer’s disease classification, thereby overcoming the limitations of data scarcity and outperforming traditional supervised methods?</a:t>
            </a:r>
          </a:p>
        </p:txBody>
      </p:sp>
      <p:sp>
        <p:nvSpPr>
          <p:cNvPr id="5" name="TextBox 4">
            <a:extLst>
              <a:ext uri="{FF2B5EF4-FFF2-40B4-BE49-F238E27FC236}">
                <a16:creationId xmlns:a16="http://schemas.microsoft.com/office/drawing/2014/main" id="{FCA0A201-B467-9045-3002-EAC8E3891CCC}"/>
              </a:ext>
            </a:extLst>
          </p:cNvPr>
          <p:cNvSpPr txBox="1"/>
          <p:nvPr/>
        </p:nvSpPr>
        <p:spPr>
          <a:xfrm flipH="1">
            <a:off x="6796454" y="344990"/>
            <a:ext cx="5109981"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Research Question</a:t>
            </a:r>
          </a:p>
        </p:txBody>
      </p:sp>
      <p:cxnSp>
        <p:nvCxnSpPr>
          <p:cNvPr id="8" name="Straight Connector 7">
            <a:extLst>
              <a:ext uri="{FF2B5EF4-FFF2-40B4-BE49-F238E27FC236}">
                <a16:creationId xmlns:a16="http://schemas.microsoft.com/office/drawing/2014/main" id="{261DAB60-476E-67E8-D134-53CE26B36848}"/>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5A124B1D-878F-91EC-C8BB-534314A3B750}"/>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DED7C457-FF9D-5DB8-833C-FC9EC626F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21F4851-7C65-6D91-EACA-74F0E2A332D4}"/>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F598716C-CFE0-AF98-3626-AD080E9C9591}"/>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64EED22-2AF7-D028-F1BD-4DCDD3AD6823}"/>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BB415A0E-A350-F6B9-CA22-BD989525413C}"/>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7</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0335174"/>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B225F-9366-6CEB-C063-FE5E66A90187}"/>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5F5BC19F-E3B9-8B39-BECC-9D6ED2651CC1}"/>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4E4CEFC3-3AD7-79EF-3606-1CAFA61D8B9E}"/>
              </a:ext>
            </a:extLst>
          </p:cNvPr>
          <p:cNvSpPr txBox="1"/>
          <p:nvPr/>
        </p:nvSpPr>
        <p:spPr>
          <a:xfrm>
            <a:off x="596536" y="1451443"/>
            <a:ext cx="10998927" cy="3170099"/>
          </a:xfrm>
          <a:prstGeom prst="rect">
            <a:avLst/>
          </a:prstGeom>
          <a:noFill/>
        </p:spPr>
        <p:txBody>
          <a:bodyPr wrap="square" rtlCol="0">
            <a:spAutoFit/>
          </a:bodyPr>
          <a:lstStyle/>
          <a:p>
            <a:pPr algn="just">
              <a:buClr>
                <a:schemeClr val="tx2"/>
              </a:buClr>
            </a:pPr>
            <a:r>
              <a:rPr lang="en-US" sz="2000" dirty="0">
                <a:latin typeface="Times New Roman" pitchFamily="18" charset="0"/>
                <a:cs typeface="Times New Roman" pitchFamily="18" charset="0"/>
              </a:rPr>
              <a:t>The primary objectives of this study are:</a:t>
            </a:r>
          </a:p>
          <a:p>
            <a:pPr algn="just">
              <a:buClr>
                <a:schemeClr val="tx2"/>
              </a:buClr>
            </a:pPr>
            <a:endParaRPr lang="en-US" sz="2000" dirty="0">
              <a:latin typeface="Times New Roman" pitchFamily="18" charset="0"/>
              <a:cs typeface="Times New Roman" pitchFamily="18" charset="0"/>
            </a:endParaRPr>
          </a:p>
          <a:p>
            <a:pPr marL="914400" lvl="1" indent="-457200" algn="just">
              <a:buClr>
                <a:schemeClr val="tx2"/>
              </a:buClr>
              <a:buFont typeface="+mj-lt"/>
              <a:buAutoNum type="arabicPeriod"/>
            </a:pPr>
            <a:r>
              <a:rPr lang="en-US" sz="2000" dirty="0">
                <a:latin typeface="Times New Roman" pitchFamily="18" charset="0"/>
                <a:cs typeface="Times New Roman" pitchFamily="18" charset="0"/>
              </a:rPr>
              <a:t>To develop a comprehensive self-supervised learning framework for a four-class classification of Alzheimer’s disease (Mild, Moderate, Normal, and Vascular Mild Dementia).</a:t>
            </a:r>
          </a:p>
          <a:p>
            <a:pPr marL="914400" lvl="1" indent="-457200" algn="just">
              <a:buClr>
                <a:schemeClr val="tx2"/>
              </a:buClr>
              <a:buFont typeface="+mj-lt"/>
              <a:buAutoNum type="arabicPeriod"/>
            </a:pPr>
            <a:endParaRPr lang="en-US" sz="2000" dirty="0">
              <a:latin typeface="Times New Roman" pitchFamily="18" charset="0"/>
              <a:cs typeface="Times New Roman" pitchFamily="18" charset="0"/>
            </a:endParaRPr>
          </a:p>
          <a:p>
            <a:pPr marL="914400" lvl="1" indent="-457200" algn="just">
              <a:buClr>
                <a:schemeClr val="tx2"/>
              </a:buClr>
              <a:buFont typeface="+mj-lt"/>
              <a:buAutoNum type="arabicPeriod"/>
            </a:pPr>
            <a:r>
              <a:rPr lang="en-US" sz="2000" dirty="0">
                <a:latin typeface="Times New Roman" pitchFamily="18" charset="0"/>
                <a:cs typeface="Times New Roman" pitchFamily="18" charset="0"/>
              </a:rPr>
              <a:t>To investigate and compare the effectiveness of different SSL techniques (</a:t>
            </a:r>
            <a:r>
              <a:rPr lang="en-US" sz="2000" dirty="0" err="1">
                <a:latin typeface="Times New Roman" pitchFamily="18" charset="0"/>
                <a:cs typeface="Times New Roman" pitchFamily="18" charset="0"/>
              </a:rPr>
              <a:t>SimCLR</a:t>
            </a:r>
            <a:r>
              <a:rPr lang="en-US" sz="2000" dirty="0">
                <a:latin typeface="Times New Roman" pitchFamily="18" charset="0"/>
                <a:cs typeface="Times New Roman" pitchFamily="18" charset="0"/>
              </a:rPr>
              <a:t>, BYOL, DINO) for this task.</a:t>
            </a:r>
          </a:p>
          <a:p>
            <a:pPr marL="914400" lvl="1" indent="-457200" algn="just">
              <a:buClr>
                <a:schemeClr val="tx2"/>
              </a:buClr>
              <a:buFont typeface="+mj-lt"/>
              <a:buAutoNum type="arabicPeriod"/>
            </a:pPr>
            <a:endParaRPr lang="en-US" sz="2000" dirty="0">
              <a:latin typeface="Times New Roman" pitchFamily="18" charset="0"/>
              <a:cs typeface="Times New Roman" pitchFamily="18" charset="0"/>
            </a:endParaRPr>
          </a:p>
          <a:p>
            <a:pPr marL="914400" lvl="1" indent="-457200" algn="just">
              <a:buClr>
                <a:schemeClr val="tx2"/>
              </a:buClr>
              <a:buFont typeface="+mj-lt"/>
              <a:buAutoNum type="arabicPeriod"/>
            </a:pPr>
            <a:r>
              <a:rPr lang="en-US" sz="2000" dirty="0">
                <a:latin typeface="Times New Roman" pitchFamily="18" charset="0"/>
                <a:cs typeface="Times New Roman" pitchFamily="18" charset="0"/>
              </a:rPr>
              <a:t>To evaluate the framework’s performance under data-scarce conditions using few-shot learning experiments.</a:t>
            </a:r>
          </a:p>
        </p:txBody>
      </p:sp>
      <p:sp>
        <p:nvSpPr>
          <p:cNvPr id="5" name="TextBox 4">
            <a:extLst>
              <a:ext uri="{FF2B5EF4-FFF2-40B4-BE49-F238E27FC236}">
                <a16:creationId xmlns:a16="http://schemas.microsoft.com/office/drawing/2014/main" id="{37184635-C525-4B55-8341-2BC8936E3FDC}"/>
              </a:ext>
            </a:extLst>
          </p:cNvPr>
          <p:cNvSpPr txBox="1"/>
          <p:nvPr/>
        </p:nvSpPr>
        <p:spPr>
          <a:xfrm flipH="1">
            <a:off x="6796454" y="344990"/>
            <a:ext cx="5109981"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a:t>
            </a:r>
          </a:p>
        </p:txBody>
      </p:sp>
      <p:cxnSp>
        <p:nvCxnSpPr>
          <p:cNvPr id="8" name="Straight Connector 7">
            <a:extLst>
              <a:ext uri="{FF2B5EF4-FFF2-40B4-BE49-F238E27FC236}">
                <a16:creationId xmlns:a16="http://schemas.microsoft.com/office/drawing/2014/main" id="{BB6E8222-3E28-989D-5DA1-7F5CF3934D88}"/>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8A097571-30C3-A87E-CA6C-31061086F555}"/>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B753C6D6-75EA-5163-F623-61D522F51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C2F8B8C-8952-C139-DD49-E6438F56395F}"/>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7BB05F97-DC49-2081-8BC1-76DA25967837}"/>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442DC97-2DDF-6578-6844-A93AE4BF5DB4}"/>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D658525F-10DF-7D2C-0900-0FC7FE773939}"/>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8</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29103"/>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0ECA-D7BD-98C6-D5CC-BEEDA5B7F307}"/>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3B67C3FA-65C8-A211-E21D-C6357E569BF3}"/>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5681076E-CF43-F41C-5C98-8F266EF13256}"/>
              </a:ext>
            </a:extLst>
          </p:cNvPr>
          <p:cNvSpPr txBox="1"/>
          <p:nvPr/>
        </p:nvSpPr>
        <p:spPr>
          <a:xfrm>
            <a:off x="596536" y="1451443"/>
            <a:ext cx="10998927" cy="4093428"/>
          </a:xfrm>
          <a:prstGeom prst="rect">
            <a:avLst/>
          </a:prstGeom>
          <a:noFill/>
        </p:spPr>
        <p:txBody>
          <a:bodyPr wrap="square" rtlCol="0">
            <a:spAutoFit/>
          </a:bodyPr>
          <a:lstStyle/>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914400" lvl="1" indent="-457200" algn="just">
              <a:buClr>
                <a:schemeClr val="tx2"/>
              </a:buClr>
              <a:buFont typeface="Wingdings" pitchFamily="2" charset="2"/>
              <a:buChar char="Ø"/>
            </a:pPr>
            <a:r>
              <a:rPr lang="en-US" sz="2000" b="1" dirty="0">
                <a:latin typeface="Times New Roman" pitchFamily="18" charset="0"/>
                <a:cs typeface="Times New Roman" pitchFamily="18" charset="0"/>
              </a:rPr>
              <a:t>State-of-the-Art Performance: </a:t>
            </a:r>
            <a:r>
              <a:rPr lang="en-US" sz="2000" dirty="0">
                <a:latin typeface="Times New Roman" pitchFamily="18" charset="0"/>
                <a:cs typeface="Times New Roman" pitchFamily="18" charset="0"/>
              </a:rPr>
              <a:t>The proposed </a:t>
            </a:r>
            <a:r>
              <a:rPr lang="en-US" sz="2000" dirty="0" err="1">
                <a:latin typeface="Times New Roman" pitchFamily="18" charset="0"/>
                <a:cs typeface="Times New Roman" pitchFamily="18" charset="0"/>
              </a:rPr>
              <a:t>SimCLR</a:t>
            </a:r>
            <a:r>
              <a:rPr lang="en-US" sz="2000" dirty="0">
                <a:latin typeface="Times New Roman" pitchFamily="18" charset="0"/>
                <a:cs typeface="Times New Roman" pitchFamily="18" charset="0"/>
              </a:rPr>
              <a:t> framework with a </a:t>
            </a:r>
            <a:r>
              <a:rPr lang="en-US" sz="2000" dirty="0" err="1">
                <a:latin typeface="Times New Roman" pitchFamily="18" charset="0"/>
                <a:cs typeface="Times New Roman" pitchFamily="18" charset="0"/>
              </a:rPr>
              <a:t>ConvNeXt</a:t>
            </a:r>
            <a:r>
              <a:rPr lang="en-US" sz="2000" dirty="0">
                <a:latin typeface="Times New Roman" pitchFamily="18" charset="0"/>
                <a:cs typeface="Times New Roman" pitchFamily="18" charset="0"/>
              </a:rPr>
              <a:t>-S backbone achieved 98.21% accuracy, outperforming previous methods by over 3%.</a:t>
            </a:r>
          </a:p>
          <a:p>
            <a:pPr marL="914400" lvl="1" indent="-457200" algn="just">
              <a:buClr>
                <a:schemeClr val="tx2"/>
              </a:buClr>
              <a:buFont typeface="Wingdings" pitchFamily="2" charset="2"/>
              <a:buChar char="Ø"/>
            </a:pPr>
            <a:endParaRPr lang="en-US" sz="2000" dirty="0">
              <a:latin typeface="Times New Roman" pitchFamily="18" charset="0"/>
              <a:cs typeface="Times New Roman" pitchFamily="18" charset="0"/>
            </a:endParaRPr>
          </a:p>
          <a:p>
            <a:pPr marL="914400" lvl="1" indent="-457200" algn="just">
              <a:buClr>
                <a:schemeClr val="tx2"/>
              </a:buClr>
              <a:buFont typeface="Wingdings" pitchFamily="2" charset="2"/>
              <a:buChar char="Ø"/>
            </a:pPr>
            <a:r>
              <a:rPr lang="en-US" sz="2000" b="1" dirty="0">
                <a:latin typeface="Times New Roman" pitchFamily="18" charset="0"/>
                <a:cs typeface="Times New Roman" pitchFamily="18" charset="0"/>
              </a:rPr>
              <a:t>High Label Efficiency: </a:t>
            </a:r>
            <a:r>
              <a:rPr lang="en-US" sz="2000" dirty="0">
                <a:latin typeface="Times New Roman" pitchFamily="18" charset="0"/>
                <a:cs typeface="Times New Roman" pitchFamily="18" charset="0"/>
              </a:rPr>
              <a:t>Demonstrated good performance in low-data scenarios, achieving 95.25% accuracy using only 10% of the available labeled data.</a:t>
            </a:r>
          </a:p>
          <a:p>
            <a:pPr marL="914400" lvl="1" indent="-457200" algn="just">
              <a:buClr>
                <a:schemeClr val="tx2"/>
              </a:buClr>
              <a:buFont typeface="Wingdings" pitchFamily="2" charset="2"/>
              <a:buChar char="Ø"/>
            </a:pPr>
            <a:endParaRPr lang="en-US" sz="2000" dirty="0">
              <a:latin typeface="Times New Roman" pitchFamily="18" charset="0"/>
              <a:cs typeface="Times New Roman" pitchFamily="18" charset="0"/>
            </a:endParaRPr>
          </a:p>
          <a:p>
            <a:pPr marL="914400" lvl="1" indent="-457200" algn="just">
              <a:buClr>
                <a:schemeClr val="tx2"/>
              </a:buClr>
              <a:buFont typeface="Wingdings" pitchFamily="2" charset="2"/>
              <a:buChar char="Ø"/>
            </a:pPr>
            <a:r>
              <a:rPr lang="en-US" sz="2000" b="1" dirty="0">
                <a:latin typeface="Times New Roman" pitchFamily="18" charset="0"/>
                <a:cs typeface="Times New Roman" pitchFamily="18" charset="0"/>
              </a:rPr>
              <a:t>Clinical Relevance: </a:t>
            </a:r>
            <a:r>
              <a:rPr lang="en-US" sz="2000" dirty="0">
                <a:latin typeface="Times New Roman" pitchFamily="18" charset="0"/>
                <a:cs typeface="Times New Roman" pitchFamily="18" charset="0"/>
              </a:rPr>
              <a:t>The framework’s ability to learn from unlabeled data addresses a key bottleneck in medical AI, paving the way for more rapid and cost-effective development of diagnostic tools.</a:t>
            </a:r>
          </a:p>
          <a:p>
            <a:pPr marL="914400" lvl="1" indent="-457200" algn="just">
              <a:buClr>
                <a:schemeClr val="tx2"/>
              </a:buClr>
              <a:buFont typeface="Wingdings" pitchFamily="2" charset="2"/>
              <a:buChar char="Ø"/>
            </a:pPr>
            <a:endParaRPr lang="en-US" sz="2000" dirty="0">
              <a:latin typeface="Times New Roman" pitchFamily="18" charset="0"/>
              <a:cs typeface="Times New Roman" pitchFamily="18" charset="0"/>
            </a:endParaRPr>
          </a:p>
          <a:p>
            <a:pPr marL="914400" lvl="1" indent="-457200" algn="just">
              <a:buClr>
                <a:schemeClr val="tx2"/>
              </a:buClr>
              <a:buFont typeface="Wingdings" pitchFamily="2" charset="2"/>
              <a:buChar char="Ø"/>
            </a:pPr>
            <a:r>
              <a:rPr lang="en-US" sz="2000" b="1" dirty="0">
                <a:latin typeface="Times New Roman" pitchFamily="18" charset="0"/>
                <a:cs typeface="Times New Roman" pitchFamily="18" charset="0"/>
              </a:rPr>
              <a:t>Robustness: </a:t>
            </a:r>
            <a:r>
              <a:rPr lang="en-US" sz="2000" dirty="0">
                <a:latin typeface="Times New Roman" pitchFamily="18" charset="0"/>
                <a:cs typeface="Times New Roman" pitchFamily="18" charset="0"/>
              </a:rPr>
              <a:t>The model showed strong performance across multiple metrics, including a 99.15% AUC and 96.88% MCC, indicating a highly reliable classification capability.</a:t>
            </a:r>
          </a:p>
        </p:txBody>
      </p:sp>
      <p:sp>
        <p:nvSpPr>
          <p:cNvPr id="5" name="TextBox 4">
            <a:extLst>
              <a:ext uri="{FF2B5EF4-FFF2-40B4-BE49-F238E27FC236}">
                <a16:creationId xmlns:a16="http://schemas.microsoft.com/office/drawing/2014/main" id="{B1EFFA56-CBD7-2365-26ED-3942FE7964D1}"/>
              </a:ext>
            </a:extLst>
          </p:cNvPr>
          <p:cNvSpPr txBox="1"/>
          <p:nvPr/>
        </p:nvSpPr>
        <p:spPr>
          <a:xfrm flipH="1">
            <a:off x="6796454" y="344990"/>
            <a:ext cx="5109981"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Impact &amp; Outcome</a:t>
            </a:r>
          </a:p>
        </p:txBody>
      </p:sp>
      <p:cxnSp>
        <p:nvCxnSpPr>
          <p:cNvPr id="8" name="Straight Connector 7">
            <a:extLst>
              <a:ext uri="{FF2B5EF4-FFF2-40B4-BE49-F238E27FC236}">
                <a16:creationId xmlns:a16="http://schemas.microsoft.com/office/drawing/2014/main" id="{F69473AE-6721-1882-C6C2-AAFDB1AB87B1}"/>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D10DD9B8-663A-2B2F-5C64-2E3F2D6BC739}"/>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DB71F95C-F019-5B1B-66C8-8D39C0067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F1168155-BC53-A544-91EA-1DBAED07C37A}"/>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F49E4EEB-FA9F-8AAE-5CE8-03EA5AE763CC}"/>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E7BDD11-9954-7D1E-3542-FDACD303F2E2}"/>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8C603657-6B7F-0B8D-90CD-BAC83005BF67}"/>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9</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768178"/>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4DA44-8EA9-1D49-5F77-1C80CD24CC29}"/>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4EC0D200-B248-F7EB-33FA-C8ACC1F779AA}"/>
              </a:ext>
            </a:extLst>
          </p:cNvPr>
          <p:cNvSpPr txBox="1"/>
          <p:nvPr/>
        </p:nvSpPr>
        <p:spPr>
          <a:xfrm>
            <a:off x="3733800" y="4724400"/>
            <a:ext cx="4191000" cy="369332"/>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1895FCC5-38B3-5A6F-834A-C5B95F4AE646}"/>
              </a:ext>
            </a:extLst>
          </p:cNvPr>
          <p:cNvSpPr txBox="1"/>
          <p:nvPr/>
        </p:nvSpPr>
        <p:spPr>
          <a:xfrm>
            <a:off x="596537" y="1810098"/>
            <a:ext cx="4327156" cy="1015663"/>
          </a:xfrm>
          <a:prstGeom prst="rect">
            <a:avLst/>
          </a:prstGeom>
          <a:noFill/>
        </p:spPr>
        <p:txBody>
          <a:bodyPr wrap="square" rtlCol="0">
            <a:spAutoFit/>
          </a:bodyPr>
          <a:lstStyle/>
          <a:p>
            <a:pPr algn="just">
              <a:buClr>
                <a:schemeClr val="tx2"/>
              </a:buClr>
            </a:pPr>
            <a:r>
              <a:rPr lang="en-US" sz="2000" dirty="0">
                <a:latin typeface="Times New Roman" pitchFamily="18" charset="0"/>
                <a:cs typeface="Times New Roman" pitchFamily="18" charset="0"/>
              </a:rPr>
              <a:t>Our workflow consists of four main stages, designed to learn from unlabeled data and adapt for classification.</a:t>
            </a:r>
          </a:p>
        </p:txBody>
      </p:sp>
      <p:sp>
        <p:nvSpPr>
          <p:cNvPr id="5" name="TextBox 4">
            <a:extLst>
              <a:ext uri="{FF2B5EF4-FFF2-40B4-BE49-F238E27FC236}">
                <a16:creationId xmlns:a16="http://schemas.microsoft.com/office/drawing/2014/main" id="{63E7DDB8-3234-D3F5-33CB-996CA64ACE57}"/>
              </a:ext>
            </a:extLst>
          </p:cNvPr>
          <p:cNvSpPr txBox="1"/>
          <p:nvPr/>
        </p:nvSpPr>
        <p:spPr>
          <a:xfrm flipH="1">
            <a:off x="6796454" y="344990"/>
            <a:ext cx="5109981"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 Pipeline</a:t>
            </a:r>
          </a:p>
        </p:txBody>
      </p:sp>
      <p:cxnSp>
        <p:nvCxnSpPr>
          <p:cNvPr id="8" name="Straight Connector 7">
            <a:extLst>
              <a:ext uri="{FF2B5EF4-FFF2-40B4-BE49-F238E27FC236}">
                <a16:creationId xmlns:a16="http://schemas.microsoft.com/office/drawing/2014/main" id="{8C05D9F7-5FF7-D648-34A3-2A460CC6120D}"/>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088DE9EC-62C1-0A35-FFC2-3ED823EE3AE9}"/>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99B6B186-EDFE-38F5-D84C-AFD5DAEA12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C3FA9BE9-80C8-BACC-0917-CEEAD981ECE4}"/>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6FBDCA16-90CF-F3FD-9487-60B240CF97B8}"/>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7970B25-1EA9-2960-5C77-9AC6C010CC6D}"/>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B95BABE4-D2A2-5A00-1E98-3AAC5381931A}"/>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10</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D4868B7-053B-2E73-9F51-68D654EFE191}"/>
              </a:ext>
            </a:extLst>
          </p:cNvPr>
          <p:cNvSpPr txBox="1"/>
          <p:nvPr/>
        </p:nvSpPr>
        <p:spPr>
          <a:xfrm>
            <a:off x="5974751" y="6198473"/>
            <a:ext cx="5628418" cy="307777"/>
          </a:xfrm>
          <a:prstGeom prst="rect">
            <a:avLst/>
          </a:prstGeom>
          <a:noFill/>
        </p:spPr>
        <p:txBody>
          <a:bodyPr wrap="square" rtlCol="0">
            <a:spAutoFit/>
          </a:bodyPr>
          <a:lstStyle/>
          <a:p>
            <a:pPr algn="ctr"/>
            <a:r>
              <a:rPr lang="en-US" sz="1400" i="1" dirty="0">
                <a:latin typeface="Times New Roman" panose="02020603050405020304" pitchFamily="18" charset="0"/>
                <a:cs typeface="Times New Roman" panose="02020603050405020304" pitchFamily="18" charset="0"/>
              </a:rPr>
              <a:t>Figure 1: Illustrating the complete workflow.</a:t>
            </a:r>
            <a:endParaRPr lang="en-US" sz="1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E8CC54A-37D4-400E-B56F-D5AC8DCCB3F3}"/>
              </a:ext>
            </a:extLst>
          </p:cNvPr>
          <p:cNvSpPr txBox="1"/>
          <p:nvPr/>
        </p:nvSpPr>
        <p:spPr>
          <a:xfrm>
            <a:off x="596537" y="3253500"/>
            <a:ext cx="4327156" cy="400110"/>
          </a:xfrm>
          <a:prstGeom prst="rect">
            <a:avLst/>
          </a:prstGeom>
          <a:noFill/>
        </p:spPr>
        <p:txBody>
          <a:bodyPr wrap="square" rtlCol="0">
            <a:spAutoFit/>
          </a:bodyPr>
          <a:lstStyle/>
          <a:p>
            <a:pPr algn="just">
              <a:buClr>
                <a:schemeClr val="tx2"/>
              </a:buClr>
            </a:pPr>
            <a:r>
              <a:rPr lang="en-US" sz="2000" dirty="0">
                <a:latin typeface="Times New Roman" pitchFamily="18" charset="0"/>
                <a:cs typeface="Times New Roman" pitchFamily="18" charset="0"/>
              </a:rPr>
              <a:t>The dataset comprises 6,407 images</a:t>
            </a:r>
          </a:p>
        </p:txBody>
      </p:sp>
      <p:pic>
        <p:nvPicPr>
          <p:cNvPr id="6" name="Picture 5">
            <a:extLst>
              <a:ext uri="{FF2B5EF4-FFF2-40B4-BE49-F238E27FC236}">
                <a16:creationId xmlns:a16="http://schemas.microsoft.com/office/drawing/2014/main" id="{B2AE7762-1E81-533D-E417-9F4E2A63D600}"/>
              </a:ext>
            </a:extLst>
          </p:cNvPr>
          <p:cNvPicPr>
            <a:picLocks noChangeAspect="1"/>
          </p:cNvPicPr>
          <p:nvPr/>
        </p:nvPicPr>
        <p:blipFill>
          <a:blip r:embed="rId4"/>
          <a:stretch>
            <a:fillRect/>
          </a:stretch>
        </p:blipFill>
        <p:spPr>
          <a:xfrm>
            <a:off x="5172634" y="1319755"/>
            <a:ext cx="6934201" cy="4983378"/>
          </a:xfrm>
          <a:prstGeom prst="rect">
            <a:avLst/>
          </a:prstGeom>
        </p:spPr>
      </p:pic>
    </p:spTree>
    <p:extLst>
      <p:ext uri="{BB962C8B-B14F-4D97-AF65-F5344CB8AC3E}">
        <p14:creationId xmlns:p14="http://schemas.microsoft.com/office/powerpoint/2010/main" val="1962373989"/>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18523-52D1-82B4-3994-A6D4C93F81AA}"/>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D2F41A4C-278A-392F-CC01-82D2AA89238D}"/>
              </a:ext>
            </a:extLst>
          </p:cNvPr>
          <p:cNvSpPr txBox="1"/>
          <p:nvPr/>
        </p:nvSpPr>
        <p:spPr>
          <a:xfrm>
            <a:off x="426208" y="2291547"/>
            <a:ext cx="3168639" cy="3477875"/>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dirty="0" err="1">
                <a:latin typeface="Times New Roman" pitchFamily="18" charset="0"/>
                <a:cs typeface="Times New Roman" pitchFamily="18" charset="0"/>
              </a:rPr>
              <a:t>SimCLR</a:t>
            </a:r>
            <a:r>
              <a:rPr lang="en-US" sz="2000" dirty="0">
                <a:latin typeface="Times New Roman" pitchFamily="18" charset="0"/>
                <a:cs typeface="Times New Roman" pitchFamily="18" charset="0"/>
              </a:rPr>
              <a:t> with </a:t>
            </a:r>
            <a:r>
              <a:rPr lang="en-US" sz="2000" dirty="0" err="1">
                <a:latin typeface="Times New Roman" pitchFamily="18" charset="0"/>
                <a:cs typeface="Times New Roman" pitchFamily="18" charset="0"/>
              </a:rPr>
              <a:t>ConvNeXt</a:t>
            </a:r>
            <a:r>
              <a:rPr lang="en-US" sz="2000" dirty="0">
                <a:latin typeface="Times New Roman" pitchFamily="18" charset="0"/>
                <a:cs typeface="Times New Roman" pitchFamily="18" charset="0"/>
              </a:rPr>
              <a:t>-S was the top performer.</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Full Fine-Tuning consistently outperformed Linear Probing, showing the benefit of adapting the learned features to the specific task.</a:t>
            </a:r>
          </a:p>
        </p:txBody>
      </p:sp>
      <p:sp>
        <p:nvSpPr>
          <p:cNvPr id="5" name="TextBox 4">
            <a:extLst>
              <a:ext uri="{FF2B5EF4-FFF2-40B4-BE49-F238E27FC236}">
                <a16:creationId xmlns:a16="http://schemas.microsoft.com/office/drawing/2014/main" id="{49B9B583-F66E-FE7B-49F9-5B93982543E2}"/>
              </a:ext>
            </a:extLst>
          </p:cNvPr>
          <p:cNvSpPr txBox="1"/>
          <p:nvPr/>
        </p:nvSpPr>
        <p:spPr>
          <a:xfrm flipH="1">
            <a:off x="6317673" y="233608"/>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a:t>
            </a:r>
          </a:p>
        </p:txBody>
      </p:sp>
      <p:cxnSp>
        <p:nvCxnSpPr>
          <p:cNvPr id="8" name="Straight Connector 7">
            <a:extLst>
              <a:ext uri="{FF2B5EF4-FFF2-40B4-BE49-F238E27FC236}">
                <a16:creationId xmlns:a16="http://schemas.microsoft.com/office/drawing/2014/main" id="{1E7F6009-B74A-C8E6-CE44-419F36A4BBEB}"/>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B85ACD5C-EE10-30A3-6B44-79B3EAA3F058}"/>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5AD382DB-EEC9-2DDD-FA5F-47A51AB1D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C244B8A9-70A5-D326-E51E-0CEE464E9A12}"/>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EAB2E6A4-6332-173B-F570-F3ECB9538066}"/>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7EA7523-5B2A-2D9B-07B4-B228765A8EBB}"/>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E150CD4B-BB71-ED78-A23A-524F2FED099E}"/>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11</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5277A63-9D26-112D-9310-2C5EF3C93208}"/>
              </a:ext>
            </a:extLst>
          </p:cNvPr>
          <p:cNvSpPr txBox="1"/>
          <p:nvPr/>
        </p:nvSpPr>
        <p:spPr>
          <a:xfrm>
            <a:off x="426208" y="1495029"/>
            <a:ext cx="3500334" cy="400110"/>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SSL Performance Analysis</a:t>
            </a:r>
            <a:endParaRPr lang="en-US" sz="2000" dirty="0">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34DED545-2EC5-5FF7-15C7-617D33F139FE}"/>
              </a:ext>
            </a:extLst>
          </p:cNvPr>
          <p:cNvGraphicFramePr>
            <a:graphicFrameLocks noGrp="1"/>
          </p:cNvGraphicFramePr>
          <p:nvPr>
            <p:extLst>
              <p:ext uri="{D42A27DB-BD31-4B8C-83A1-F6EECF244321}">
                <p14:modId xmlns:p14="http://schemas.microsoft.com/office/powerpoint/2010/main" val="635895455"/>
              </p:ext>
            </p:extLst>
          </p:nvPr>
        </p:nvGraphicFramePr>
        <p:xfrm>
          <a:off x="3594847" y="2096736"/>
          <a:ext cx="8447964" cy="4105599"/>
        </p:xfrm>
        <a:graphic>
          <a:graphicData uri="http://schemas.openxmlformats.org/drawingml/2006/table">
            <a:tbl>
              <a:tblPr>
                <a:tableStyleId>{16D9F66E-5EB9-4882-86FB-DCBF35E3C3E4}</a:tableStyleId>
              </a:tblPr>
              <a:tblGrid>
                <a:gridCol w="1021977">
                  <a:extLst>
                    <a:ext uri="{9D8B030D-6E8A-4147-A177-3AD203B41FA5}">
                      <a16:colId xmlns:a16="http://schemas.microsoft.com/office/drawing/2014/main" val="3832260552"/>
                    </a:ext>
                  </a:extLst>
                </a:gridCol>
                <a:gridCol w="1119287">
                  <a:extLst>
                    <a:ext uri="{9D8B030D-6E8A-4147-A177-3AD203B41FA5}">
                      <a16:colId xmlns:a16="http://schemas.microsoft.com/office/drawing/2014/main" val="1299509449"/>
                    </a:ext>
                  </a:extLst>
                </a:gridCol>
                <a:gridCol w="1102659">
                  <a:extLst>
                    <a:ext uri="{9D8B030D-6E8A-4147-A177-3AD203B41FA5}">
                      <a16:colId xmlns:a16="http://schemas.microsoft.com/office/drawing/2014/main" val="3652786162"/>
                    </a:ext>
                  </a:extLst>
                </a:gridCol>
                <a:gridCol w="765206">
                  <a:extLst>
                    <a:ext uri="{9D8B030D-6E8A-4147-A177-3AD203B41FA5}">
                      <a16:colId xmlns:a16="http://schemas.microsoft.com/office/drawing/2014/main" val="582681904"/>
                    </a:ext>
                  </a:extLst>
                </a:gridCol>
                <a:gridCol w="573738">
                  <a:extLst>
                    <a:ext uri="{9D8B030D-6E8A-4147-A177-3AD203B41FA5}">
                      <a16:colId xmlns:a16="http://schemas.microsoft.com/office/drawing/2014/main" val="3283537755"/>
                    </a:ext>
                  </a:extLst>
                </a:gridCol>
                <a:gridCol w="645459">
                  <a:extLst>
                    <a:ext uri="{9D8B030D-6E8A-4147-A177-3AD203B41FA5}">
                      <a16:colId xmlns:a16="http://schemas.microsoft.com/office/drawing/2014/main" val="789979860"/>
                    </a:ext>
                  </a:extLst>
                </a:gridCol>
                <a:gridCol w="672353">
                  <a:extLst>
                    <a:ext uri="{9D8B030D-6E8A-4147-A177-3AD203B41FA5}">
                      <a16:colId xmlns:a16="http://schemas.microsoft.com/office/drawing/2014/main" val="2422304974"/>
                    </a:ext>
                  </a:extLst>
                </a:gridCol>
                <a:gridCol w="600635">
                  <a:extLst>
                    <a:ext uri="{9D8B030D-6E8A-4147-A177-3AD203B41FA5}">
                      <a16:colId xmlns:a16="http://schemas.microsoft.com/office/drawing/2014/main" val="371419090"/>
                    </a:ext>
                  </a:extLst>
                </a:gridCol>
                <a:gridCol w="681318">
                  <a:extLst>
                    <a:ext uri="{9D8B030D-6E8A-4147-A177-3AD203B41FA5}">
                      <a16:colId xmlns:a16="http://schemas.microsoft.com/office/drawing/2014/main" val="3383170458"/>
                    </a:ext>
                  </a:extLst>
                </a:gridCol>
                <a:gridCol w="663388">
                  <a:extLst>
                    <a:ext uri="{9D8B030D-6E8A-4147-A177-3AD203B41FA5}">
                      <a16:colId xmlns:a16="http://schemas.microsoft.com/office/drawing/2014/main" val="2176537001"/>
                    </a:ext>
                  </a:extLst>
                </a:gridCol>
                <a:gridCol w="601944">
                  <a:extLst>
                    <a:ext uri="{9D8B030D-6E8A-4147-A177-3AD203B41FA5}">
                      <a16:colId xmlns:a16="http://schemas.microsoft.com/office/drawing/2014/main" val="3092093890"/>
                    </a:ext>
                  </a:extLst>
                </a:gridCol>
              </a:tblGrid>
              <a:tr h="494454">
                <a:tc>
                  <a:txBody>
                    <a:bodyPr/>
                    <a:lstStyle/>
                    <a:p>
                      <a:r>
                        <a:rPr lang="en-US" sz="1400" b="1" dirty="0">
                          <a:latin typeface="Times New Roman" panose="02020603050405020304" pitchFamily="18" charset="0"/>
                          <a:cs typeface="Times New Roman" panose="02020603050405020304" pitchFamily="18" charset="0"/>
                        </a:rPr>
                        <a:t>SSL Method</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Backbone</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Protocol</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Labeled (%)</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ACC</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AUC</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PRE</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SP</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SN</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F1</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MCC</a:t>
                      </a:r>
                    </a:p>
                  </a:txBody>
                  <a:tcPr marL="75023" marR="75023" marT="37512" marB="37512" anchor="ctr"/>
                </a:tc>
                <a:extLst>
                  <a:ext uri="{0D108BD9-81ED-4DB2-BD59-A6C34878D82A}">
                    <a16:rowId xmlns:a16="http://schemas.microsoft.com/office/drawing/2014/main" val="2406388115"/>
                  </a:ext>
                </a:extLst>
              </a:tr>
              <a:tr h="494454">
                <a:tc>
                  <a:txBody>
                    <a:bodyPr/>
                    <a:lstStyle/>
                    <a:p>
                      <a:r>
                        <a:rPr lang="en-US" sz="1400">
                          <a:latin typeface="Times New Roman" panose="02020603050405020304" pitchFamily="18" charset="0"/>
                          <a:cs typeface="Times New Roman" panose="02020603050405020304" pitchFamily="18" charset="0"/>
                        </a:rPr>
                        <a:t>SimCLR</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ConvNeXt-S</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Linear Probe</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100</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97.35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98.92</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97.12</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98.48</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96.98</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97.05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95.82</a:t>
                      </a:r>
                    </a:p>
                  </a:txBody>
                  <a:tcPr marL="75023" marR="75023" marT="37512" marB="37512" anchor="ctr"/>
                </a:tc>
                <a:extLst>
                  <a:ext uri="{0D108BD9-81ED-4DB2-BD59-A6C34878D82A}">
                    <a16:rowId xmlns:a16="http://schemas.microsoft.com/office/drawing/2014/main" val="2742777327"/>
                  </a:ext>
                </a:extLst>
              </a:tr>
              <a:tr h="706831">
                <a:tc>
                  <a:txBody>
                    <a:bodyPr/>
                    <a:lstStyle/>
                    <a:p>
                      <a:r>
                        <a:rPr lang="en-US" sz="1400" b="1" dirty="0" err="1">
                          <a:latin typeface="Times New Roman" panose="02020603050405020304" pitchFamily="18" charset="0"/>
                          <a:cs typeface="Times New Roman" panose="02020603050405020304" pitchFamily="18" charset="0"/>
                        </a:rPr>
                        <a:t>SimCLR</a:t>
                      </a:r>
                      <a:endParaRPr lang="en-US" sz="1400" b="1" dirty="0">
                        <a:latin typeface="Times New Roman" panose="02020603050405020304" pitchFamily="18" charset="0"/>
                        <a:cs typeface="Times New Roman" panose="02020603050405020304" pitchFamily="18" charset="0"/>
                      </a:endParaRPr>
                    </a:p>
                  </a:txBody>
                  <a:tcPr marL="75023" marR="75023" marT="37512" marB="37512" anchor="ctr"/>
                </a:tc>
                <a:tc>
                  <a:txBody>
                    <a:bodyPr/>
                    <a:lstStyle/>
                    <a:p>
                      <a:r>
                        <a:rPr lang="en-US" sz="1400" b="1" dirty="0" err="1">
                          <a:latin typeface="Times New Roman" panose="02020603050405020304" pitchFamily="18" charset="0"/>
                          <a:cs typeface="Times New Roman" panose="02020603050405020304" pitchFamily="18" charset="0"/>
                        </a:rPr>
                        <a:t>ConvNeXt</a:t>
                      </a:r>
                      <a:r>
                        <a:rPr lang="en-US" sz="1400" b="1" dirty="0">
                          <a:latin typeface="Times New Roman" panose="02020603050405020304" pitchFamily="18" charset="0"/>
                          <a:cs typeface="Times New Roman" panose="02020603050405020304" pitchFamily="18" charset="0"/>
                        </a:rPr>
                        <a:t>-S</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Full Fine-Tune</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100</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98.21</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99.15</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98.05</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99.05</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97.88</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97.96</a:t>
                      </a:r>
                    </a:p>
                  </a:txBody>
                  <a:tcPr marL="75023" marR="75023" marT="37512" marB="37512" anchor="ctr"/>
                </a:tc>
                <a:tc>
                  <a:txBody>
                    <a:bodyPr/>
                    <a:lstStyle/>
                    <a:p>
                      <a:r>
                        <a:rPr lang="en-US" sz="1400" b="1" dirty="0">
                          <a:latin typeface="Times New Roman" panose="02020603050405020304" pitchFamily="18" charset="0"/>
                          <a:cs typeface="Times New Roman" panose="02020603050405020304" pitchFamily="18" charset="0"/>
                        </a:rPr>
                        <a:t>96.88</a:t>
                      </a:r>
                    </a:p>
                  </a:txBody>
                  <a:tcPr marL="75023" marR="75023" marT="37512" marB="37512" anchor="ctr"/>
                </a:tc>
                <a:extLst>
                  <a:ext uri="{0D108BD9-81ED-4DB2-BD59-A6C34878D82A}">
                    <a16:rowId xmlns:a16="http://schemas.microsoft.com/office/drawing/2014/main" val="3995324130"/>
                  </a:ext>
                </a:extLst>
              </a:tr>
              <a:tr h="494454">
                <a:tc>
                  <a:txBody>
                    <a:bodyPr/>
                    <a:lstStyle/>
                    <a:p>
                      <a:r>
                        <a:rPr lang="en-US" sz="1400" dirty="0">
                          <a:latin typeface="Times New Roman" panose="02020603050405020304" pitchFamily="18" charset="0"/>
                          <a:cs typeface="Times New Roman" panose="02020603050405020304" pitchFamily="18" charset="0"/>
                        </a:rPr>
                        <a:t>BYOL</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ResNet-50</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Linear Probe</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100</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96.42</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98.35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96.15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97.95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95.85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95.98</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94.25</a:t>
                      </a:r>
                    </a:p>
                  </a:txBody>
                  <a:tcPr marL="75023" marR="75023" marT="37512" marB="37512" anchor="ctr"/>
                </a:tc>
                <a:extLst>
                  <a:ext uri="{0D108BD9-81ED-4DB2-BD59-A6C34878D82A}">
                    <a16:rowId xmlns:a16="http://schemas.microsoft.com/office/drawing/2014/main" val="1983218816"/>
                  </a:ext>
                </a:extLst>
              </a:tr>
              <a:tr h="706831">
                <a:tc>
                  <a:txBody>
                    <a:bodyPr/>
                    <a:lstStyle/>
                    <a:p>
                      <a:r>
                        <a:rPr lang="en-US" sz="1400">
                          <a:latin typeface="Times New Roman" panose="02020603050405020304" pitchFamily="18" charset="0"/>
                          <a:cs typeface="Times New Roman" panose="02020603050405020304" pitchFamily="18" charset="0"/>
                        </a:rPr>
                        <a:t>BYOL</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ResNet-50</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Full Fine-Tune</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100</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97.05</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98.72</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96.88</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98.35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96.42</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96.65</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95.48</a:t>
                      </a:r>
                    </a:p>
                  </a:txBody>
                  <a:tcPr marL="75023" marR="75023" marT="37512" marB="37512" anchor="ctr"/>
                </a:tc>
                <a:extLst>
                  <a:ext uri="{0D108BD9-81ED-4DB2-BD59-A6C34878D82A}">
                    <a16:rowId xmlns:a16="http://schemas.microsoft.com/office/drawing/2014/main" val="436511131"/>
                  </a:ext>
                </a:extLst>
              </a:tr>
              <a:tr h="494454">
                <a:tc>
                  <a:txBody>
                    <a:bodyPr/>
                    <a:lstStyle/>
                    <a:p>
                      <a:r>
                        <a:rPr lang="en-US" sz="1400">
                          <a:latin typeface="Times New Roman" panose="02020603050405020304" pitchFamily="18" charset="0"/>
                          <a:cs typeface="Times New Roman" panose="02020603050405020304" pitchFamily="18" charset="0"/>
                        </a:rPr>
                        <a:t>DINO</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ViT-B/16</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Linear Probe</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100</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96.85</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98.58</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96.42</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98.15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96.12</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96.28</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95.05</a:t>
                      </a:r>
                    </a:p>
                  </a:txBody>
                  <a:tcPr marL="75023" marR="75023" marT="37512" marB="37512" anchor="ctr"/>
                </a:tc>
                <a:extLst>
                  <a:ext uri="{0D108BD9-81ED-4DB2-BD59-A6C34878D82A}">
                    <a16:rowId xmlns:a16="http://schemas.microsoft.com/office/drawing/2014/main" val="1352865776"/>
                  </a:ext>
                </a:extLst>
              </a:tr>
              <a:tr h="706831">
                <a:tc>
                  <a:txBody>
                    <a:bodyPr/>
                    <a:lstStyle/>
                    <a:p>
                      <a:r>
                        <a:rPr lang="en-US" sz="1400">
                          <a:latin typeface="Times New Roman" panose="02020603050405020304" pitchFamily="18" charset="0"/>
                          <a:cs typeface="Times New Roman" panose="02020603050405020304" pitchFamily="18" charset="0"/>
                        </a:rPr>
                        <a:t>DINO</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ViT-B/16</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Full Fine-Tune</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100</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97.45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98.85</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97.18</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98.62</a:t>
                      </a:r>
                    </a:p>
                  </a:txBody>
                  <a:tcPr marL="75023" marR="75023" marT="37512" marB="37512" anchor="ctr"/>
                </a:tc>
                <a:tc>
                  <a:txBody>
                    <a:bodyPr/>
                    <a:lstStyle/>
                    <a:p>
                      <a:r>
                        <a:rPr lang="en-US" sz="1400">
                          <a:latin typeface="Times New Roman" panose="02020603050405020304" pitchFamily="18" charset="0"/>
                          <a:cs typeface="Times New Roman" panose="02020603050405020304" pitchFamily="18" charset="0"/>
                        </a:rPr>
                        <a:t>96.95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97.05</a:t>
                      </a:r>
                    </a:p>
                  </a:txBody>
                  <a:tcPr marL="75023" marR="75023" marT="37512" marB="37512" anchor="ctr"/>
                </a:tc>
                <a:tc>
                  <a:txBody>
                    <a:bodyPr/>
                    <a:lstStyle/>
                    <a:p>
                      <a:r>
                        <a:rPr lang="en-US" sz="1400" dirty="0">
                          <a:latin typeface="Times New Roman" panose="02020603050405020304" pitchFamily="18" charset="0"/>
                          <a:cs typeface="Times New Roman" panose="02020603050405020304" pitchFamily="18" charset="0"/>
                        </a:rPr>
                        <a:t>95.92</a:t>
                      </a:r>
                    </a:p>
                  </a:txBody>
                  <a:tcPr marL="75023" marR="75023" marT="37512" marB="37512" anchor="ctr"/>
                </a:tc>
                <a:extLst>
                  <a:ext uri="{0D108BD9-81ED-4DB2-BD59-A6C34878D82A}">
                    <a16:rowId xmlns:a16="http://schemas.microsoft.com/office/drawing/2014/main" val="1376166099"/>
                  </a:ext>
                </a:extLst>
              </a:tr>
            </a:tbl>
          </a:graphicData>
        </a:graphic>
      </p:graphicFrame>
      <p:sp>
        <p:nvSpPr>
          <p:cNvPr id="7" name="TextBox 6">
            <a:extLst>
              <a:ext uri="{FF2B5EF4-FFF2-40B4-BE49-F238E27FC236}">
                <a16:creationId xmlns:a16="http://schemas.microsoft.com/office/drawing/2014/main" id="{B06BAAEB-7694-EE99-9BC8-0D0825C235EC}"/>
              </a:ext>
            </a:extLst>
          </p:cNvPr>
          <p:cNvSpPr txBox="1"/>
          <p:nvPr/>
        </p:nvSpPr>
        <p:spPr>
          <a:xfrm>
            <a:off x="5389533" y="1610541"/>
            <a:ext cx="5397568" cy="369332"/>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Table 1: SSL Methods Comparison (Classification Task)</a:t>
            </a:r>
          </a:p>
        </p:txBody>
      </p:sp>
    </p:spTree>
    <p:extLst>
      <p:ext uri="{BB962C8B-B14F-4D97-AF65-F5344CB8AC3E}">
        <p14:creationId xmlns:p14="http://schemas.microsoft.com/office/powerpoint/2010/main" val="319436436"/>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B62AE-8FD2-C475-A0C5-34F062C09322}"/>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AD661201-F9C5-C75F-10DA-0EBD8019BCEE}"/>
              </a:ext>
            </a:extLst>
          </p:cNvPr>
          <p:cNvSpPr txBox="1"/>
          <p:nvPr/>
        </p:nvSpPr>
        <p:spPr>
          <a:xfrm>
            <a:off x="596537" y="2133121"/>
            <a:ext cx="4674710" cy="2862322"/>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Performance analysis of SSL methods for Alzheimer’s disease classification. (A) Protocol comparison showing </a:t>
            </a:r>
            <a:r>
              <a:rPr lang="en-US" sz="2000" dirty="0" err="1">
                <a:latin typeface="Times New Roman" pitchFamily="18" charset="0"/>
                <a:cs typeface="Times New Roman" pitchFamily="18" charset="0"/>
              </a:rPr>
              <a:t>SimCLR</a:t>
            </a:r>
            <a:r>
              <a:rPr lang="en-US" sz="2000" dirty="0">
                <a:latin typeface="Times New Roman" pitchFamily="18" charset="0"/>
                <a:cs typeface="Times New Roman" pitchFamily="18" charset="0"/>
              </a:rPr>
              <a:t> achieving 98.21% accuracy with full fine-tuning. (B) Multi-metric evaluation across all SSL approaches. (C) Training time efficiency analysis. (D) Testing time comparison for clinical deployment feasibility.</a:t>
            </a:r>
          </a:p>
        </p:txBody>
      </p:sp>
      <p:sp>
        <p:nvSpPr>
          <p:cNvPr id="5" name="TextBox 4">
            <a:extLst>
              <a:ext uri="{FF2B5EF4-FFF2-40B4-BE49-F238E27FC236}">
                <a16:creationId xmlns:a16="http://schemas.microsoft.com/office/drawing/2014/main" id="{8639B263-1B19-2932-DC1E-F3C893BECAD2}"/>
              </a:ext>
            </a:extLst>
          </p:cNvPr>
          <p:cNvSpPr txBox="1"/>
          <p:nvPr/>
        </p:nvSpPr>
        <p:spPr>
          <a:xfrm flipH="1">
            <a:off x="6317673" y="233608"/>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 Cont.</a:t>
            </a:r>
          </a:p>
        </p:txBody>
      </p:sp>
      <p:cxnSp>
        <p:nvCxnSpPr>
          <p:cNvPr id="8" name="Straight Connector 7">
            <a:extLst>
              <a:ext uri="{FF2B5EF4-FFF2-40B4-BE49-F238E27FC236}">
                <a16:creationId xmlns:a16="http://schemas.microsoft.com/office/drawing/2014/main" id="{C62B364F-4958-7132-9BE0-1A1D471E66AE}"/>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25128B69-CB0D-DA1F-CA06-E82B2498146A}"/>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3082E82E-EF28-9563-D4F5-AECF91F344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770691EC-1709-5EFB-DB63-2BECFA7AE196}"/>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00501511-FF2F-AED6-49A0-F2C9815F32DD}"/>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73FD1EF-B2E2-73E9-9E62-2E33A54260F8}"/>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0F1D65DD-444E-5346-E871-CD12F2C48AF0}"/>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12</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DA70C44-371C-C97D-1B82-326A89574BD9}"/>
              </a:ext>
            </a:extLst>
          </p:cNvPr>
          <p:cNvSpPr txBox="1"/>
          <p:nvPr/>
        </p:nvSpPr>
        <p:spPr>
          <a:xfrm>
            <a:off x="596537" y="1495029"/>
            <a:ext cx="4855596" cy="400110"/>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Performance Comparison</a:t>
            </a:r>
            <a:endParaRPr lang="en-US" sz="2000" dirty="0">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F1F12C17-553C-F457-59AB-CE60F696A611}"/>
              </a:ext>
            </a:extLst>
          </p:cNvPr>
          <p:cNvSpPr txBox="1"/>
          <p:nvPr/>
        </p:nvSpPr>
        <p:spPr>
          <a:xfrm>
            <a:off x="5452132" y="6069600"/>
            <a:ext cx="6418285" cy="307777"/>
          </a:xfrm>
          <a:prstGeom prst="rect">
            <a:avLst/>
          </a:prstGeom>
          <a:noFill/>
        </p:spPr>
        <p:txBody>
          <a:bodyPr wrap="square" rtlCol="0">
            <a:spAutoFit/>
          </a:bodyPr>
          <a:lstStyle/>
          <a:p>
            <a:pPr algn="ctr"/>
            <a:r>
              <a:rPr lang="en-US" sz="1400" i="1" dirty="0">
                <a:latin typeface="Times New Roman" panose="02020603050405020304" pitchFamily="18" charset="0"/>
                <a:cs typeface="Times New Roman" panose="02020603050405020304" pitchFamily="18" charset="0"/>
              </a:rPr>
              <a:t>Figure 2: Performance analysis of SSL methods for Alzheimer’s disease classification.</a:t>
            </a:r>
          </a:p>
        </p:txBody>
      </p:sp>
      <p:pic>
        <p:nvPicPr>
          <p:cNvPr id="13" name="Picture 12" descr="A group of graphs and charts&#10;&#10;AI-generated content may be incorrect.">
            <a:extLst>
              <a:ext uri="{FF2B5EF4-FFF2-40B4-BE49-F238E27FC236}">
                <a16:creationId xmlns:a16="http://schemas.microsoft.com/office/drawing/2014/main" id="{58F5DCD1-B52A-46CF-5A9E-3DF9D4B9C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2132" y="1373945"/>
            <a:ext cx="6418285" cy="4682410"/>
          </a:xfrm>
          <a:prstGeom prst="rect">
            <a:avLst/>
          </a:prstGeom>
        </p:spPr>
      </p:pic>
    </p:spTree>
    <p:extLst>
      <p:ext uri="{BB962C8B-B14F-4D97-AF65-F5344CB8AC3E}">
        <p14:creationId xmlns:p14="http://schemas.microsoft.com/office/powerpoint/2010/main" val="2420568898"/>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E3A5-EE40-6E3F-5B2A-F4BB2AC4E1FB}"/>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29AEA4B9-9D90-7022-3C86-7409B4EB0B04}"/>
              </a:ext>
            </a:extLst>
          </p:cNvPr>
          <p:cNvSpPr txBox="1"/>
          <p:nvPr/>
        </p:nvSpPr>
        <p:spPr>
          <a:xfrm>
            <a:off x="426208" y="1732723"/>
            <a:ext cx="11116960" cy="707886"/>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The SSL framework demonstrated remarkable label efficiency, maintaining high performance with only a fraction of labeled data.</a:t>
            </a:r>
          </a:p>
        </p:txBody>
      </p:sp>
      <p:sp>
        <p:nvSpPr>
          <p:cNvPr id="5" name="TextBox 4">
            <a:extLst>
              <a:ext uri="{FF2B5EF4-FFF2-40B4-BE49-F238E27FC236}">
                <a16:creationId xmlns:a16="http://schemas.microsoft.com/office/drawing/2014/main" id="{DB041435-8BA8-EFC0-B42C-C4A163B82772}"/>
              </a:ext>
            </a:extLst>
          </p:cNvPr>
          <p:cNvSpPr txBox="1"/>
          <p:nvPr/>
        </p:nvSpPr>
        <p:spPr>
          <a:xfrm flipH="1">
            <a:off x="6317673" y="233608"/>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a:t>
            </a:r>
          </a:p>
        </p:txBody>
      </p:sp>
      <p:cxnSp>
        <p:nvCxnSpPr>
          <p:cNvPr id="8" name="Straight Connector 7">
            <a:extLst>
              <a:ext uri="{FF2B5EF4-FFF2-40B4-BE49-F238E27FC236}">
                <a16:creationId xmlns:a16="http://schemas.microsoft.com/office/drawing/2014/main" id="{390BCE3D-CC7E-A6E2-9A3F-1811DBC1FF9A}"/>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CE1FEFFA-7E0B-FC0A-5D66-2E6B172E06E6}"/>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3E942079-E9D3-EAF2-615A-ACCBE745E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79303A27-0CBD-5A5A-16E9-FE938DBCD33C}"/>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51407503-B45F-E55F-FC95-C38432B8B04B}"/>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F1C5DADB-9F03-3370-5A69-E87F0A8F51A6}"/>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E5C0A328-F3A1-B617-11C8-445A2780C1B4}"/>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13</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AB8707-03E2-F279-A658-AB8A6D22E218}"/>
              </a:ext>
            </a:extLst>
          </p:cNvPr>
          <p:cNvSpPr txBox="1"/>
          <p:nvPr/>
        </p:nvSpPr>
        <p:spPr>
          <a:xfrm>
            <a:off x="426208" y="1332613"/>
            <a:ext cx="4906283" cy="400110"/>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Few-Shot Learning &amp; Label Efficiency</a:t>
            </a:r>
            <a:endParaRPr lang="en-US" sz="20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2E6F138A-6B64-831F-B76B-5CD020694D64}"/>
              </a:ext>
            </a:extLst>
          </p:cNvPr>
          <p:cNvSpPr txBox="1"/>
          <p:nvPr/>
        </p:nvSpPr>
        <p:spPr>
          <a:xfrm>
            <a:off x="4205523" y="2388336"/>
            <a:ext cx="4015778" cy="369332"/>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Table 2: Few-Shot Learning Performance</a:t>
            </a:r>
          </a:p>
        </p:txBody>
      </p:sp>
      <p:graphicFrame>
        <p:nvGraphicFramePr>
          <p:cNvPr id="2" name="Table 1">
            <a:extLst>
              <a:ext uri="{FF2B5EF4-FFF2-40B4-BE49-F238E27FC236}">
                <a16:creationId xmlns:a16="http://schemas.microsoft.com/office/drawing/2014/main" id="{DE20D2E8-0BB2-8578-3061-AB8F60AA293D}"/>
              </a:ext>
            </a:extLst>
          </p:cNvPr>
          <p:cNvGraphicFramePr>
            <a:graphicFrameLocks noGrp="1"/>
          </p:cNvGraphicFramePr>
          <p:nvPr>
            <p:extLst>
              <p:ext uri="{D42A27DB-BD31-4B8C-83A1-F6EECF244321}">
                <p14:modId xmlns:p14="http://schemas.microsoft.com/office/powerpoint/2010/main" val="2328175221"/>
              </p:ext>
            </p:extLst>
          </p:nvPr>
        </p:nvGraphicFramePr>
        <p:xfrm>
          <a:off x="838200" y="2785229"/>
          <a:ext cx="10515600" cy="3352800"/>
        </p:xfrm>
        <a:graphic>
          <a:graphicData uri="http://schemas.openxmlformats.org/drawingml/2006/table">
            <a:tbl>
              <a:tblPr>
                <a:tableStyleId>{16D9F66E-5EB9-4882-86FB-DCBF35E3C3E4}</a:tableStyleId>
              </a:tblPr>
              <a:tblGrid>
                <a:gridCol w="1314450">
                  <a:extLst>
                    <a:ext uri="{9D8B030D-6E8A-4147-A177-3AD203B41FA5}">
                      <a16:colId xmlns:a16="http://schemas.microsoft.com/office/drawing/2014/main" val="3076029911"/>
                    </a:ext>
                  </a:extLst>
                </a:gridCol>
                <a:gridCol w="1314450">
                  <a:extLst>
                    <a:ext uri="{9D8B030D-6E8A-4147-A177-3AD203B41FA5}">
                      <a16:colId xmlns:a16="http://schemas.microsoft.com/office/drawing/2014/main" val="1222262531"/>
                    </a:ext>
                  </a:extLst>
                </a:gridCol>
                <a:gridCol w="1314450">
                  <a:extLst>
                    <a:ext uri="{9D8B030D-6E8A-4147-A177-3AD203B41FA5}">
                      <a16:colId xmlns:a16="http://schemas.microsoft.com/office/drawing/2014/main" val="902613838"/>
                    </a:ext>
                  </a:extLst>
                </a:gridCol>
                <a:gridCol w="1314450">
                  <a:extLst>
                    <a:ext uri="{9D8B030D-6E8A-4147-A177-3AD203B41FA5}">
                      <a16:colId xmlns:a16="http://schemas.microsoft.com/office/drawing/2014/main" val="1919707402"/>
                    </a:ext>
                  </a:extLst>
                </a:gridCol>
                <a:gridCol w="1314450">
                  <a:extLst>
                    <a:ext uri="{9D8B030D-6E8A-4147-A177-3AD203B41FA5}">
                      <a16:colId xmlns:a16="http://schemas.microsoft.com/office/drawing/2014/main" val="3315889930"/>
                    </a:ext>
                  </a:extLst>
                </a:gridCol>
                <a:gridCol w="1314450">
                  <a:extLst>
                    <a:ext uri="{9D8B030D-6E8A-4147-A177-3AD203B41FA5}">
                      <a16:colId xmlns:a16="http://schemas.microsoft.com/office/drawing/2014/main" val="1913941140"/>
                    </a:ext>
                  </a:extLst>
                </a:gridCol>
                <a:gridCol w="1314450">
                  <a:extLst>
                    <a:ext uri="{9D8B030D-6E8A-4147-A177-3AD203B41FA5}">
                      <a16:colId xmlns:a16="http://schemas.microsoft.com/office/drawing/2014/main" val="3573780371"/>
                    </a:ext>
                  </a:extLst>
                </a:gridCol>
                <a:gridCol w="1314450">
                  <a:extLst>
                    <a:ext uri="{9D8B030D-6E8A-4147-A177-3AD203B41FA5}">
                      <a16:colId xmlns:a16="http://schemas.microsoft.com/office/drawing/2014/main" val="4022451082"/>
                    </a:ext>
                  </a:extLst>
                </a:gridCol>
              </a:tblGrid>
              <a:tr h="0">
                <a:tc>
                  <a:txBody>
                    <a:bodyPr/>
                    <a:lstStyle/>
                    <a:p>
                      <a:r>
                        <a:rPr lang="en-US" sz="1600" b="1" dirty="0">
                          <a:latin typeface="Times New Roman" panose="02020603050405020304" pitchFamily="18" charset="0"/>
                          <a:cs typeface="Times New Roman" panose="02020603050405020304" pitchFamily="18" charset="0"/>
                        </a:rPr>
                        <a:t>SSL Method</a:t>
                      </a:r>
                    </a:p>
                  </a:txBody>
                  <a:tcPr anchor="ctr"/>
                </a:tc>
                <a:tc>
                  <a:txBody>
                    <a:bodyPr/>
                    <a:lstStyle/>
                    <a:p>
                      <a:r>
                        <a:rPr lang="en-US" sz="1600" b="1" dirty="0">
                          <a:latin typeface="Times New Roman" panose="02020603050405020304" pitchFamily="18" charset="0"/>
                          <a:cs typeface="Times New Roman" panose="02020603050405020304" pitchFamily="18" charset="0"/>
                        </a:rPr>
                        <a:t>Backbone</a:t>
                      </a:r>
                    </a:p>
                  </a:txBody>
                  <a:tcPr anchor="ctr"/>
                </a:tc>
                <a:tc>
                  <a:txBody>
                    <a:bodyPr/>
                    <a:lstStyle/>
                    <a:p>
                      <a:r>
                        <a:rPr lang="en-US" sz="1600" b="1" dirty="0">
                          <a:latin typeface="Times New Roman" panose="02020603050405020304" pitchFamily="18" charset="0"/>
                          <a:cs typeface="Times New Roman" panose="02020603050405020304" pitchFamily="18" charset="0"/>
                        </a:rPr>
                        <a:t>Protocol</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Labeled (%)</a:t>
                      </a:r>
                    </a:p>
                  </a:txBody>
                  <a:tcPr anchor="ctr"/>
                </a:tc>
                <a:tc>
                  <a:txBody>
                    <a:bodyPr/>
                    <a:lstStyle/>
                    <a:p>
                      <a:r>
                        <a:rPr lang="en-US" sz="1600" b="1" dirty="0">
                          <a:latin typeface="Times New Roman" panose="02020603050405020304" pitchFamily="18" charset="0"/>
                          <a:cs typeface="Times New Roman" panose="02020603050405020304" pitchFamily="18" charset="0"/>
                        </a:rPr>
                        <a:t>ACC</a:t>
                      </a:r>
                    </a:p>
                  </a:txBody>
                  <a:tcPr anchor="ctr"/>
                </a:tc>
                <a:tc>
                  <a:txBody>
                    <a:bodyPr/>
                    <a:lstStyle/>
                    <a:p>
                      <a:r>
                        <a:rPr lang="en-US" sz="1600" b="1" dirty="0">
                          <a:latin typeface="Times New Roman" panose="02020603050405020304" pitchFamily="18" charset="0"/>
                          <a:cs typeface="Times New Roman" panose="02020603050405020304" pitchFamily="18" charset="0"/>
                        </a:rPr>
                        <a:t>AUC</a:t>
                      </a:r>
                    </a:p>
                  </a:txBody>
                  <a:tcPr anchor="ctr"/>
                </a:tc>
                <a:tc>
                  <a:txBody>
                    <a:bodyPr/>
                    <a:lstStyle/>
                    <a:p>
                      <a:r>
                        <a:rPr lang="en-US" sz="1600" b="1" dirty="0">
                          <a:latin typeface="Times New Roman" panose="02020603050405020304" pitchFamily="18" charset="0"/>
                          <a:cs typeface="Times New Roman" panose="02020603050405020304" pitchFamily="18" charset="0"/>
                        </a:rPr>
                        <a:t>F1</a:t>
                      </a:r>
                    </a:p>
                  </a:txBody>
                  <a:tcPr anchor="ctr"/>
                </a:tc>
                <a:tc>
                  <a:txBody>
                    <a:bodyPr/>
                    <a:lstStyle/>
                    <a:p>
                      <a:r>
                        <a:rPr lang="en-US" sz="1600" b="1" dirty="0">
                          <a:latin typeface="Times New Roman" panose="02020603050405020304" pitchFamily="18" charset="0"/>
                          <a:cs typeface="Times New Roman" panose="02020603050405020304" pitchFamily="18" charset="0"/>
                        </a:rPr>
                        <a:t>MCC</a:t>
                      </a:r>
                    </a:p>
                  </a:txBody>
                  <a:tcPr anchor="ctr"/>
                </a:tc>
                <a:extLst>
                  <a:ext uri="{0D108BD9-81ED-4DB2-BD59-A6C34878D82A}">
                    <a16:rowId xmlns:a16="http://schemas.microsoft.com/office/drawing/2014/main" val="1544468685"/>
                  </a:ext>
                </a:extLst>
              </a:tr>
              <a:tr h="0">
                <a:tc>
                  <a:txBody>
                    <a:bodyPr/>
                    <a:lstStyle/>
                    <a:p>
                      <a:r>
                        <a:rPr lang="en-US" sz="1600" b="1" dirty="0" err="1">
                          <a:latin typeface="Times New Roman" panose="02020603050405020304" pitchFamily="18" charset="0"/>
                          <a:cs typeface="Times New Roman" panose="02020603050405020304" pitchFamily="18" charset="0"/>
                        </a:rPr>
                        <a:t>SimCLR</a:t>
                      </a:r>
                      <a:endParaRPr lang="en-US" sz="1600" b="1" dirty="0">
                        <a:latin typeface="Times New Roman" panose="02020603050405020304" pitchFamily="18" charset="0"/>
                        <a:cs typeface="Times New Roman" panose="02020603050405020304" pitchFamily="18" charset="0"/>
                      </a:endParaRPr>
                    </a:p>
                  </a:txBody>
                  <a:tcPr anchor="ctr"/>
                </a:tc>
                <a:tc>
                  <a:txBody>
                    <a:bodyPr/>
                    <a:lstStyle/>
                    <a:p>
                      <a:r>
                        <a:rPr lang="en-US" sz="1600" b="1" dirty="0" err="1">
                          <a:latin typeface="Times New Roman" panose="02020603050405020304" pitchFamily="18" charset="0"/>
                          <a:cs typeface="Times New Roman" panose="02020603050405020304" pitchFamily="18" charset="0"/>
                        </a:rPr>
                        <a:t>ConvNeXt</a:t>
                      </a:r>
                      <a:r>
                        <a:rPr lang="en-US" sz="1600" b="1" dirty="0">
                          <a:latin typeface="Times New Roman" panose="02020603050405020304" pitchFamily="18" charset="0"/>
                          <a:cs typeface="Times New Roman" panose="02020603050405020304" pitchFamily="18" charset="0"/>
                        </a:rPr>
                        <a:t>-S</a:t>
                      </a:r>
                    </a:p>
                  </a:txBody>
                  <a:tcPr anchor="ctr"/>
                </a:tc>
                <a:tc>
                  <a:txBody>
                    <a:bodyPr/>
                    <a:lstStyle/>
                    <a:p>
                      <a:r>
                        <a:rPr lang="en-US" sz="1600" b="1" dirty="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10</a:t>
                      </a:r>
                    </a:p>
                  </a:txBody>
                  <a:tcPr anchor="ctr"/>
                </a:tc>
                <a:tc>
                  <a:txBody>
                    <a:bodyPr/>
                    <a:lstStyle/>
                    <a:p>
                      <a:r>
                        <a:rPr lang="en-US" sz="1600" b="1" dirty="0">
                          <a:latin typeface="Times New Roman" panose="02020603050405020304" pitchFamily="18" charset="0"/>
                          <a:cs typeface="Times New Roman" panose="02020603050405020304" pitchFamily="18" charset="0"/>
                        </a:rPr>
                        <a:t>95.25</a:t>
                      </a:r>
                    </a:p>
                  </a:txBody>
                  <a:tcPr anchor="ctr"/>
                </a:tc>
                <a:tc>
                  <a:txBody>
                    <a:bodyPr/>
                    <a:lstStyle/>
                    <a:p>
                      <a:r>
                        <a:rPr lang="en-US" sz="1600" b="1" dirty="0">
                          <a:latin typeface="Times New Roman" panose="02020603050405020304" pitchFamily="18" charset="0"/>
                          <a:cs typeface="Times New Roman" panose="02020603050405020304" pitchFamily="18" charset="0"/>
                        </a:rPr>
                        <a:t>97.85</a:t>
                      </a:r>
                    </a:p>
                  </a:txBody>
                  <a:tcPr anchor="ctr"/>
                </a:tc>
                <a:tc>
                  <a:txBody>
                    <a:bodyPr/>
                    <a:lstStyle/>
                    <a:p>
                      <a:r>
                        <a:rPr lang="en-US" sz="1600" b="1" dirty="0">
                          <a:latin typeface="Times New Roman" panose="02020603050405020304" pitchFamily="18" charset="0"/>
                          <a:cs typeface="Times New Roman" panose="02020603050405020304" pitchFamily="18" charset="0"/>
                        </a:rPr>
                        <a:t>95.05</a:t>
                      </a:r>
                    </a:p>
                  </a:txBody>
                  <a:tcPr anchor="ctr"/>
                </a:tc>
                <a:tc>
                  <a:txBody>
                    <a:bodyPr/>
                    <a:lstStyle/>
                    <a:p>
                      <a:r>
                        <a:rPr lang="en-US" sz="1600" b="1" dirty="0">
                          <a:latin typeface="Times New Roman" panose="02020603050405020304" pitchFamily="18" charset="0"/>
                          <a:cs typeface="Times New Roman" panose="02020603050405020304" pitchFamily="18" charset="0"/>
                        </a:rPr>
                        <a:t>93.45</a:t>
                      </a:r>
                    </a:p>
                  </a:txBody>
                  <a:tcPr anchor="ctr"/>
                </a:tc>
                <a:extLst>
                  <a:ext uri="{0D108BD9-81ED-4DB2-BD59-A6C34878D82A}">
                    <a16:rowId xmlns:a16="http://schemas.microsoft.com/office/drawing/2014/main" val="3221750269"/>
                  </a:ext>
                </a:extLst>
              </a:tr>
              <a:tr h="0">
                <a:tc>
                  <a:txBody>
                    <a:bodyPr/>
                    <a:lstStyle/>
                    <a:p>
                      <a:r>
                        <a:rPr lang="en-US" sz="1600">
                          <a:latin typeface="Times New Roman" panose="02020603050405020304" pitchFamily="18" charset="0"/>
                          <a:cs typeface="Times New Roman" panose="02020603050405020304" pitchFamily="18" charset="0"/>
                        </a:rPr>
                        <a:t>SimCLR</a:t>
                      </a:r>
                    </a:p>
                  </a:txBody>
                  <a:tcPr anchor="ctr"/>
                </a:tc>
                <a:tc>
                  <a:txBody>
                    <a:bodyPr/>
                    <a:lstStyle/>
                    <a:p>
                      <a:r>
                        <a:rPr lang="en-US" sz="1600">
                          <a:latin typeface="Times New Roman" panose="02020603050405020304" pitchFamily="18" charset="0"/>
                          <a:cs typeface="Times New Roman" panose="02020603050405020304" pitchFamily="18" charset="0"/>
                        </a:rPr>
                        <a:t>ConvNeXt-S</a:t>
                      </a:r>
                    </a:p>
                  </a:txBody>
                  <a:tcPr anchor="ctr"/>
                </a:tc>
                <a:tc>
                  <a:txBody>
                    <a:bodyPr/>
                    <a:lstStyle/>
                    <a:p>
                      <a:r>
                        <a:rPr lang="en-US" sz="1600" dirty="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5</a:t>
                      </a:r>
                    </a:p>
                  </a:txBody>
                  <a:tcPr anchor="ctr"/>
                </a:tc>
                <a:tc>
                  <a:txBody>
                    <a:bodyPr/>
                    <a:lstStyle/>
                    <a:p>
                      <a:r>
                        <a:rPr lang="en-US" sz="1600">
                          <a:latin typeface="Times New Roman" panose="02020603050405020304" pitchFamily="18" charset="0"/>
                          <a:cs typeface="Times New Roman" panose="02020603050405020304" pitchFamily="18" charset="0"/>
                        </a:rPr>
                        <a:t>93.48</a:t>
                      </a:r>
                    </a:p>
                  </a:txBody>
                  <a:tcPr anchor="ctr"/>
                </a:tc>
                <a:tc>
                  <a:txBody>
                    <a:bodyPr/>
                    <a:lstStyle/>
                    <a:p>
                      <a:r>
                        <a:rPr lang="en-US" sz="1600">
                          <a:latin typeface="Times New Roman" panose="02020603050405020304" pitchFamily="18" charset="0"/>
                          <a:cs typeface="Times New Roman" panose="02020603050405020304" pitchFamily="18" charset="0"/>
                        </a:rPr>
                        <a:t>96.25</a:t>
                      </a:r>
                    </a:p>
                  </a:txBody>
                  <a:tcPr anchor="ctr"/>
                </a:tc>
                <a:tc>
                  <a:txBody>
                    <a:bodyPr/>
                    <a:lstStyle/>
                    <a:p>
                      <a:r>
                        <a:rPr lang="en-US" sz="1600">
                          <a:latin typeface="Times New Roman" panose="02020603050405020304" pitchFamily="18" charset="0"/>
                          <a:cs typeface="Times New Roman" panose="02020603050405020304" pitchFamily="18" charset="0"/>
                        </a:rPr>
                        <a:t>93.12</a:t>
                      </a:r>
                    </a:p>
                  </a:txBody>
                  <a:tcPr anchor="ctr"/>
                </a:tc>
                <a:tc>
                  <a:txBody>
                    <a:bodyPr/>
                    <a:lstStyle/>
                    <a:p>
                      <a:r>
                        <a:rPr lang="en-US" sz="1600">
                          <a:latin typeface="Times New Roman" panose="02020603050405020304" pitchFamily="18" charset="0"/>
                          <a:cs typeface="Times New Roman" panose="02020603050405020304" pitchFamily="18" charset="0"/>
                        </a:rPr>
                        <a:t>91.28</a:t>
                      </a:r>
                    </a:p>
                  </a:txBody>
                  <a:tcPr anchor="ctr"/>
                </a:tc>
                <a:extLst>
                  <a:ext uri="{0D108BD9-81ED-4DB2-BD59-A6C34878D82A}">
                    <a16:rowId xmlns:a16="http://schemas.microsoft.com/office/drawing/2014/main" val="675957526"/>
                  </a:ext>
                </a:extLst>
              </a:tr>
              <a:tr h="0">
                <a:tc>
                  <a:txBody>
                    <a:bodyPr/>
                    <a:lstStyle/>
                    <a:p>
                      <a:r>
                        <a:rPr lang="en-US" sz="1600">
                          <a:latin typeface="Times New Roman" panose="02020603050405020304" pitchFamily="18" charset="0"/>
                          <a:cs typeface="Times New Roman" panose="02020603050405020304" pitchFamily="18" charset="0"/>
                        </a:rPr>
                        <a:t>SimCLR</a:t>
                      </a:r>
                    </a:p>
                  </a:txBody>
                  <a:tcPr anchor="ctr"/>
                </a:tc>
                <a:tc>
                  <a:txBody>
                    <a:bodyPr/>
                    <a:lstStyle/>
                    <a:p>
                      <a:r>
                        <a:rPr lang="en-US" sz="1600">
                          <a:latin typeface="Times New Roman" panose="02020603050405020304" pitchFamily="18" charset="0"/>
                          <a:cs typeface="Times New Roman" panose="02020603050405020304" pitchFamily="18" charset="0"/>
                        </a:rPr>
                        <a:t>ConvNeXt-S</a:t>
                      </a:r>
                    </a:p>
                  </a:txBody>
                  <a:tcPr anchor="ctr"/>
                </a:tc>
                <a:tc>
                  <a:txBody>
                    <a:bodyPr/>
                    <a:lstStyle/>
                    <a:p>
                      <a:r>
                        <a:rPr lang="en-US" sz="160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1</a:t>
                      </a:r>
                    </a:p>
                  </a:txBody>
                  <a:tcPr anchor="ctr"/>
                </a:tc>
                <a:tc>
                  <a:txBody>
                    <a:bodyPr/>
                    <a:lstStyle/>
                    <a:p>
                      <a:r>
                        <a:rPr lang="en-US" sz="1600" dirty="0">
                          <a:latin typeface="Times New Roman" panose="02020603050405020304" pitchFamily="18" charset="0"/>
                          <a:cs typeface="Times New Roman" panose="02020603050405020304" pitchFamily="18" charset="0"/>
                        </a:rPr>
                        <a:t>89.42</a:t>
                      </a:r>
                    </a:p>
                  </a:txBody>
                  <a:tcPr anchor="ctr"/>
                </a:tc>
                <a:tc>
                  <a:txBody>
                    <a:bodyPr/>
                    <a:lstStyle/>
                    <a:p>
                      <a:r>
                        <a:rPr lang="en-US" sz="1600">
                          <a:latin typeface="Times New Roman" panose="02020603050405020304" pitchFamily="18" charset="0"/>
                          <a:cs typeface="Times New Roman" panose="02020603050405020304" pitchFamily="18" charset="0"/>
                        </a:rPr>
                        <a:t>94.12</a:t>
                      </a:r>
                    </a:p>
                  </a:txBody>
                  <a:tcPr anchor="ctr"/>
                </a:tc>
                <a:tc>
                  <a:txBody>
                    <a:bodyPr/>
                    <a:lstStyle/>
                    <a:p>
                      <a:r>
                        <a:rPr lang="en-US" sz="1600">
                          <a:latin typeface="Times New Roman" panose="02020603050405020304" pitchFamily="18" charset="0"/>
                          <a:cs typeface="Times New Roman" panose="02020603050405020304" pitchFamily="18" charset="0"/>
                        </a:rPr>
                        <a:t>89.05</a:t>
                      </a:r>
                    </a:p>
                  </a:txBody>
                  <a:tcPr anchor="ctr"/>
                </a:tc>
                <a:tc>
                  <a:txBody>
                    <a:bodyPr/>
                    <a:lstStyle/>
                    <a:p>
                      <a:r>
                        <a:rPr lang="en-US" sz="1600">
                          <a:latin typeface="Times New Roman" panose="02020603050405020304" pitchFamily="18" charset="0"/>
                          <a:cs typeface="Times New Roman" panose="02020603050405020304" pitchFamily="18" charset="0"/>
                        </a:rPr>
                        <a:t>86.35</a:t>
                      </a:r>
                    </a:p>
                  </a:txBody>
                  <a:tcPr anchor="ctr"/>
                </a:tc>
                <a:extLst>
                  <a:ext uri="{0D108BD9-81ED-4DB2-BD59-A6C34878D82A}">
                    <a16:rowId xmlns:a16="http://schemas.microsoft.com/office/drawing/2014/main" val="2612459595"/>
                  </a:ext>
                </a:extLst>
              </a:tr>
              <a:tr h="0">
                <a:tc>
                  <a:txBody>
                    <a:bodyPr/>
                    <a:lstStyle/>
                    <a:p>
                      <a:r>
                        <a:rPr lang="en-US" sz="1600">
                          <a:latin typeface="Times New Roman" panose="02020603050405020304" pitchFamily="18" charset="0"/>
                          <a:cs typeface="Times New Roman" panose="02020603050405020304" pitchFamily="18" charset="0"/>
                        </a:rPr>
                        <a:t>BYOL</a:t>
                      </a:r>
                    </a:p>
                  </a:txBody>
                  <a:tcPr anchor="ctr"/>
                </a:tc>
                <a:tc>
                  <a:txBody>
                    <a:bodyPr/>
                    <a:lstStyle/>
                    <a:p>
                      <a:r>
                        <a:rPr lang="en-US" sz="1600">
                          <a:latin typeface="Times New Roman" panose="02020603050405020304" pitchFamily="18" charset="0"/>
                          <a:cs typeface="Times New Roman" panose="02020603050405020304" pitchFamily="18" charset="0"/>
                        </a:rPr>
                        <a:t>ResNet-50</a:t>
                      </a:r>
                    </a:p>
                  </a:txBody>
                  <a:tcPr anchor="ctr"/>
                </a:tc>
                <a:tc>
                  <a:txBody>
                    <a:bodyPr/>
                    <a:lstStyle/>
                    <a:p>
                      <a:r>
                        <a:rPr lang="en-US" sz="160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10</a:t>
                      </a:r>
                    </a:p>
                  </a:txBody>
                  <a:tcPr anchor="ctr"/>
                </a:tc>
                <a:tc>
                  <a:txBody>
                    <a:bodyPr/>
                    <a:lstStyle/>
                    <a:p>
                      <a:r>
                        <a:rPr lang="en-US" sz="1600">
                          <a:latin typeface="Times New Roman" panose="02020603050405020304" pitchFamily="18" charset="0"/>
                          <a:cs typeface="Times New Roman" panose="02020603050405020304" pitchFamily="18" charset="0"/>
                        </a:rPr>
                        <a:t>94.15</a:t>
                      </a:r>
                    </a:p>
                  </a:txBody>
                  <a:tcPr anchor="ctr"/>
                </a:tc>
                <a:tc>
                  <a:txBody>
                    <a:bodyPr/>
                    <a:lstStyle/>
                    <a:p>
                      <a:r>
                        <a:rPr lang="en-US" sz="1600">
                          <a:latin typeface="Times New Roman" panose="02020603050405020304" pitchFamily="18" charset="0"/>
                          <a:cs typeface="Times New Roman" panose="02020603050405020304" pitchFamily="18" charset="0"/>
                        </a:rPr>
                        <a:t>97.12</a:t>
                      </a:r>
                    </a:p>
                  </a:txBody>
                  <a:tcPr anchor="ctr"/>
                </a:tc>
                <a:tc>
                  <a:txBody>
                    <a:bodyPr/>
                    <a:lstStyle/>
                    <a:p>
                      <a:r>
                        <a:rPr lang="en-US" sz="1600">
                          <a:latin typeface="Times New Roman" panose="02020603050405020304" pitchFamily="18" charset="0"/>
                          <a:cs typeface="Times New Roman" panose="02020603050405020304" pitchFamily="18" charset="0"/>
                        </a:rPr>
                        <a:t>93.85</a:t>
                      </a:r>
                    </a:p>
                  </a:txBody>
                  <a:tcPr anchor="ctr"/>
                </a:tc>
                <a:tc>
                  <a:txBody>
                    <a:bodyPr/>
                    <a:lstStyle/>
                    <a:p>
                      <a:r>
                        <a:rPr lang="en-US" sz="1600">
                          <a:latin typeface="Times New Roman" panose="02020603050405020304" pitchFamily="18" charset="0"/>
                          <a:cs typeface="Times New Roman" panose="02020603050405020304" pitchFamily="18" charset="0"/>
                        </a:rPr>
                        <a:t>92.05</a:t>
                      </a:r>
                    </a:p>
                  </a:txBody>
                  <a:tcPr anchor="ctr"/>
                </a:tc>
                <a:extLst>
                  <a:ext uri="{0D108BD9-81ED-4DB2-BD59-A6C34878D82A}">
                    <a16:rowId xmlns:a16="http://schemas.microsoft.com/office/drawing/2014/main" val="2910210656"/>
                  </a:ext>
                </a:extLst>
              </a:tr>
              <a:tr h="0">
                <a:tc>
                  <a:txBody>
                    <a:bodyPr/>
                    <a:lstStyle/>
                    <a:p>
                      <a:r>
                        <a:rPr lang="en-US" sz="1600">
                          <a:latin typeface="Times New Roman" panose="02020603050405020304" pitchFamily="18" charset="0"/>
                          <a:cs typeface="Times New Roman" panose="02020603050405020304" pitchFamily="18" charset="0"/>
                        </a:rPr>
                        <a:t>BYOL</a:t>
                      </a:r>
                    </a:p>
                  </a:txBody>
                  <a:tcPr anchor="ctr"/>
                </a:tc>
                <a:tc>
                  <a:txBody>
                    <a:bodyPr/>
                    <a:lstStyle/>
                    <a:p>
                      <a:r>
                        <a:rPr lang="en-US" sz="1600">
                          <a:latin typeface="Times New Roman" panose="02020603050405020304" pitchFamily="18" charset="0"/>
                          <a:cs typeface="Times New Roman" panose="02020603050405020304" pitchFamily="18" charset="0"/>
                        </a:rPr>
                        <a:t>ResNet-50</a:t>
                      </a:r>
                    </a:p>
                  </a:txBody>
                  <a:tcPr anchor="ctr"/>
                </a:tc>
                <a:tc>
                  <a:txBody>
                    <a:bodyPr/>
                    <a:lstStyle/>
                    <a:p>
                      <a:r>
                        <a:rPr lang="en-US" sz="160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5</a:t>
                      </a:r>
                    </a:p>
                  </a:txBody>
                  <a:tcPr anchor="ctr"/>
                </a:tc>
                <a:tc>
                  <a:txBody>
                    <a:bodyPr/>
                    <a:lstStyle/>
                    <a:p>
                      <a:r>
                        <a:rPr lang="en-US" sz="1600">
                          <a:latin typeface="Times New Roman" panose="02020603050405020304" pitchFamily="18" charset="0"/>
                          <a:cs typeface="Times New Roman" panose="02020603050405020304" pitchFamily="18" charset="0"/>
                        </a:rPr>
                        <a:t>91.85</a:t>
                      </a:r>
                    </a:p>
                  </a:txBody>
                  <a:tcPr anchor="ctr"/>
                </a:tc>
                <a:tc>
                  <a:txBody>
                    <a:bodyPr/>
                    <a:lstStyle/>
                    <a:p>
                      <a:r>
                        <a:rPr lang="en-US" sz="1600">
                          <a:latin typeface="Times New Roman" panose="02020603050405020304" pitchFamily="18" charset="0"/>
                          <a:cs typeface="Times New Roman" panose="02020603050405020304" pitchFamily="18" charset="0"/>
                        </a:rPr>
                        <a:t>95.28</a:t>
                      </a:r>
                    </a:p>
                  </a:txBody>
                  <a:tcPr anchor="ctr"/>
                </a:tc>
                <a:tc>
                  <a:txBody>
                    <a:bodyPr/>
                    <a:lstStyle/>
                    <a:p>
                      <a:r>
                        <a:rPr lang="en-US" sz="1600">
                          <a:latin typeface="Times New Roman" panose="02020603050405020304" pitchFamily="18" charset="0"/>
                          <a:cs typeface="Times New Roman" panose="02020603050405020304" pitchFamily="18" charset="0"/>
                        </a:rPr>
                        <a:t>91.45</a:t>
                      </a:r>
                    </a:p>
                  </a:txBody>
                  <a:tcPr anchor="ctr"/>
                </a:tc>
                <a:tc>
                  <a:txBody>
                    <a:bodyPr/>
                    <a:lstStyle/>
                    <a:p>
                      <a:r>
                        <a:rPr lang="en-US" sz="1600">
                          <a:latin typeface="Times New Roman" panose="02020603050405020304" pitchFamily="18" charset="0"/>
                          <a:cs typeface="Times New Roman" panose="02020603050405020304" pitchFamily="18" charset="0"/>
                        </a:rPr>
                        <a:t>89.25</a:t>
                      </a:r>
                    </a:p>
                  </a:txBody>
                  <a:tcPr anchor="ctr"/>
                </a:tc>
                <a:extLst>
                  <a:ext uri="{0D108BD9-81ED-4DB2-BD59-A6C34878D82A}">
                    <a16:rowId xmlns:a16="http://schemas.microsoft.com/office/drawing/2014/main" val="3745322688"/>
                  </a:ext>
                </a:extLst>
              </a:tr>
              <a:tr h="0">
                <a:tc>
                  <a:txBody>
                    <a:bodyPr/>
                    <a:lstStyle/>
                    <a:p>
                      <a:r>
                        <a:rPr lang="en-US" sz="1600">
                          <a:latin typeface="Times New Roman" panose="02020603050405020304" pitchFamily="18" charset="0"/>
                          <a:cs typeface="Times New Roman" panose="02020603050405020304" pitchFamily="18" charset="0"/>
                        </a:rPr>
                        <a:t>BYOL</a:t>
                      </a:r>
                    </a:p>
                  </a:txBody>
                  <a:tcPr anchor="ctr"/>
                </a:tc>
                <a:tc>
                  <a:txBody>
                    <a:bodyPr/>
                    <a:lstStyle/>
                    <a:p>
                      <a:r>
                        <a:rPr lang="en-US" sz="1600">
                          <a:latin typeface="Times New Roman" panose="02020603050405020304" pitchFamily="18" charset="0"/>
                          <a:cs typeface="Times New Roman" panose="02020603050405020304" pitchFamily="18" charset="0"/>
                        </a:rPr>
                        <a:t>ResNet-50</a:t>
                      </a:r>
                    </a:p>
                  </a:txBody>
                  <a:tcPr anchor="ctr"/>
                </a:tc>
                <a:tc>
                  <a:txBody>
                    <a:bodyPr/>
                    <a:lstStyle/>
                    <a:p>
                      <a:r>
                        <a:rPr lang="en-US" sz="160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1</a:t>
                      </a:r>
                    </a:p>
                  </a:txBody>
                  <a:tcPr anchor="ctr"/>
                </a:tc>
                <a:tc>
                  <a:txBody>
                    <a:bodyPr/>
                    <a:lstStyle/>
                    <a:p>
                      <a:r>
                        <a:rPr lang="en-US" sz="1600">
                          <a:latin typeface="Times New Roman" panose="02020603050405020304" pitchFamily="18" charset="0"/>
                          <a:cs typeface="Times New Roman" panose="02020603050405020304" pitchFamily="18" charset="0"/>
                        </a:rPr>
                        <a:t>87.35</a:t>
                      </a:r>
                    </a:p>
                  </a:txBody>
                  <a:tcPr anchor="ctr"/>
                </a:tc>
                <a:tc>
                  <a:txBody>
                    <a:bodyPr/>
                    <a:lstStyle/>
                    <a:p>
                      <a:r>
                        <a:rPr lang="en-US" sz="1600">
                          <a:latin typeface="Times New Roman" panose="02020603050405020304" pitchFamily="18" charset="0"/>
                          <a:cs typeface="Times New Roman" panose="02020603050405020304" pitchFamily="18" charset="0"/>
                        </a:rPr>
                        <a:t>92.18</a:t>
                      </a:r>
                    </a:p>
                  </a:txBody>
                  <a:tcPr anchor="ctr"/>
                </a:tc>
                <a:tc>
                  <a:txBody>
                    <a:bodyPr/>
                    <a:lstStyle/>
                    <a:p>
                      <a:r>
                        <a:rPr lang="en-US" sz="1600">
                          <a:latin typeface="Times New Roman" panose="02020603050405020304" pitchFamily="18" charset="0"/>
                          <a:cs typeface="Times New Roman" panose="02020603050405020304" pitchFamily="18" charset="0"/>
                        </a:rPr>
                        <a:t>87.05</a:t>
                      </a:r>
                    </a:p>
                  </a:txBody>
                  <a:tcPr anchor="ctr"/>
                </a:tc>
                <a:tc>
                  <a:txBody>
                    <a:bodyPr/>
                    <a:lstStyle/>
                    <a:p>
                      <a:r>
                        <a:rPr lang="en-US" sz="1600">
                          <a:latin typeface="Times New Roman" panose="02020603050405020304" pitchFamily="18" charset="0"/>
                          <a:cs typeface="Times New Roman" panose="02020603050405020304" pitchFamily="18" charset="0"/>
                        </a:rPr>
                        <a:t>83.88</a:t>
                      </a:r>
                    </a:p>
                  </a:txBody>
                  <a:tcPr anchor="ctr"/>
                </a:tc>
                <a:extLst>
                  <a:ext uri="{0D108BD9-81ED-4DB2-BD59-A6C34878D82A}">
                    <a16:rowId xmlns:a16="http://schemas.microsoft.com/office/drawing/2014/main" val="251732257"/>
                  </a:ext>
                </a:extLst>
              </a:tr>
              <a:tr h="0">
                <a:tc>
                  <a:txBody>
                    <a:bodyPr/>
                    <a:lstStyle/>
                    <a:p>
                      <a:r>
                        <a:rPr lang="en-US" sz="1600">
                          <a:latin typeface="Times New Roman" panose="02020603050405020304" pitchFamily="18" charset="0"/>
                          <a:cs typeface="Times New Roman" panose="02020603050405020304" pitchFamily="18" charset="0"/>
                        </a:rPr>
                        <a:t>DINO</a:t>
                      </a:r>
                    </a:p>
                  </a:txBody>
                  <a:tcPr anchor="ctr"/>
                </a:tc>
                <a:tc>
                  <a:txBody>
                    <a:bodyPr/>
                    <a:lstStyle/>
                    <a:p>
                      <a:r>
                        <a:rPr lang="en-US" sz="1600">
                          <a:latin typeface="Times New Roman" panose="02020603050405020304" pitchFamily="18" charset="0"/>
                          <a:cs typeface="Times New Roman" panose="02020603050405020304" pitchFamily="18" charset="0"/>
                        </a:rPr>
                        <a:t>ViT-B/16</a:t>
                      </a:r>
                    </a:p>
                  </a:txBody>
                  <a:tcPr anchor="ctr"/>
                </a:tc>
                <a:tc>
                  <a:txBody>
                    <a:bodyPr/>
                    <a:lstStyle/>
                    <a:p>
                      <a:r>
                        <a:rPr lang="en-US" sz="160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10</a:t>
                      </a:r>
                    </a:p>
                  </a:txBody>
                  <a:tcPr anchor="ctr"/>
                </a:tc>
                <a:tc>
                  <a:txBody>
                    <a:bodyPr/>
                    <a:lstStyle/>
                    <a:p>
                      <a:r>
                        <a:rPr lang="en-US" sz="1600">
                          <a:latin typeface="Times New Roman" panose="02020603050405020304" pitchFamily="18" charset="0"/>
                          <a:cs typeface="Times New Roman" panose="02020603050405020304" pitchFamily="18" charset="0"/>
                        </a:rPr>
                        <a:t>93.95</a:t>
                      </a:r>
                    </a:p>
                  </a:txBody>
                  <a:tcPr anchor="ctr"/>
                </a:tc>
                <a:tc>
                  <a:txBody>
                    <a:bodyPr/>
                    <a:lstStyle/>
                    <a:p>
                      <a:r>
                        <a:rPr lang="en-US" sz="1600">
                          <a:latin typeface="Times New Roman" panose="02020603050405020304" pitchFamily="18" charset="0"/>
                          <a:cs typeface="Times New Roman" panose="02020603050405020304" pitchFamily="18" charset="0"/>
                        </a:rPr>
                        <a:t>96.85</a:t>
                      </a:r>
                    </a:p>
                  </a:txBody>
                  <a:tcPr anchor="ctr"/>
                </a:tc>
                <a:tc>
                  <a:txBody>
                    <a:bodyPr/>
                    <a:lstStyle/>
                    <a:p>
                      <a:r>
                        <a:rPr lang="en-US" sz="1600">
                          <a:latin typeface="Times New Roman" panose="02020603050405020304" pitchFamily="18" charset="0"/>
                          <a:cs typeface="Times New Roman" panose="02020603050405020304" pitchFamily="18" charset="0"/>
                        </a:rPr>
                        <a:t>93.62</a:t>
                      </a:r>
                    </a:p>
                  </a:txBody>
                  <a:tcPr anchor="ctr"/>
                </a:tc>
                <a:tc>
                  <a:txBody>
                    <a:bodyPr/>
                    <a:lstStyle/>
                    <a:p>
                      <a:r>
                        <a:rPr lang="en-US" sz="1600">
                          <a:latin typeface="Times New Roman" panose="02020603050405020304" pitchFamily="18" charset="0"/>
                          <a:cs typeface="Times New Roman" panose="02020603050405020304" pitchFamily="18" charset="0"/>
                        </a:rPr>
                        <a:t>91.85</a:t>
                      </a:r>
                    </a:p>
                  </a:txBody>
                  <a:tcPr anchor="ctr"/>
                </a:tc>
                <a:extLst>
                  <a:ext uri="{0D108BD9-81ED-4DB2-BD59-A6C34878D82A}">
                    <a16:rowId xmlns:a16="http://schemas.microsoft.com/office/drawing/2014/main" val="3605213753"/>
                  </a:ext>
                </a:extLst>
              </a:tr>
              <a:tr h="0">
                <a:tc>
                  <a:txBody>
                    <a:bodyPr/>
                    <a:lstStyle/>
                    <a:p>
                      <a:r>
                        <a:rPr lang="en-US" sz="1600">
                          <a:latin typeface="Times New Roman" panose="02020603050405020304" pitchFamily="18" charset="0"/>
                          <a:cs typeface="Times New Roman" panose="02020603050405020304" pitchFamily="18" charset="0"/>
                        </a:rPr>
                        <a:t>DINO</a:t>
                      </a:r>
                    </a:p>
                  </a:txBody>
                  <a:tcPr anchor="ctr"/>
                </a:tc>
                <a:tc>
                  <a:txBody>
                    <a:bodyPr/>
                    <a:lstStyle/>
                    <a:p>
                      <a:r>
                        <a:rPr lang="en-US" sz="1600">
                          <a:latin typeface="Times New Roman" panose="02020603050405020304" pitchFamily="18" charset="0"/>
                          <a:cs typeface="Times New Roman" panose="02020603050405020304" pitchFamily="18" charset="0"/>
                        </a:rPr>
                        <a:t>ViT-B/16</a:t>
                      </a:r>
                    </a:p>
                  </a:txBody>
                  <a:tcPr anchor="ctr"/>
                </a:tc>
                <a:tc>
                  <a:txBody>
                    <a:bodyPr/>
                    <a:lstStyle/>
                    <a:p>
                      <a:r>
                        <a:rPr lang="en-US" sz="160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5</a:t>
                      </a:r>
                    </a:p>
                  </a:txBody>
                  <a:tcPr anchor="ctr"/>
                </a:tc>
                <a:tc>
                  <a:txBody>
                    <a:bodyPr/>
                    <a:lstStyle/>
                    <a:p>
                      <a:r>
                        <a:rPr lang="en-US" sz="1600">
                          <a:latin typeface="Times New Roman" panose="02020603050405020304" pitchFamily="18" charset="0"/>
                          <a:cs typeface="Times New Roman" panose="02020603050405020304" pitchFamily="18" charset="0"/>
                        </a:rPr>
                        <a:t>91.25</a:t>
                      </a:r>
                    </a:p>
                  </a:txBody>
                  <a:tcPr anchor="ctr"/>
                </a:tc>
                <a:tc>
                  <a:txBody>
                    <a:bodyPr/>
                    <a:lstStyle/>
                    <a:p>
                      <a:r>
                        <a:rPr lang="en-US" sz="1600">
                          <a:latin typeface="Times New Roman" panose="02020603050405020304" pitchFamily="18" charset="0"/>
                          <a:cs typeface="Times New Roman" panose="02020603050405020304" pitchFamily="18" charset="0"/>
                        </a:rPr>
                        <a:t>95.48</a:t>
                      </a:r>
                    </a:p>
                  </a:txBody>
                  <a:tcPr anchor="ctr"/>
                </a:tc>
                <a:tc>
                  <a:txBody>
                    <a:bodyPr/>
                    <a:lstStyle/>
                    <a:p>
                      <a:r>
                        <a:rPr lang="en-US" sz="1600">
                          <a:latin typeface="Times New Roman" panose="02020603050405020304" pitchFamily="18" charset="0"/>
                          <a:cs typeface="Times New Roman" panose="02020603050405020304" pitchFamily="18" charset="0"/>
                        </a:rPr>
                        <a:t>91.05</a:t>
                      </a:r>
                    </a:p>
                  </a:txBody>
                  <a:tcPr anchor="ctr"/>
                </a:tc>
                <a:tc>
                  <a:txBody>
                    <a:bodyPr/>
                    <a:lstStyle/>
                    <a:p>
                      <a:r>
                        <a:rPr lang="en-US" sz="1600">
                          <a:latin typeface="Times New Roman" panose="02020603050405020304" pitchFamily="18" charset="0"/>
                          <a:cs typeface="Times New Roman" panose="02020603050405020304" pitchFamily="18" charset="0"/>
                        </a:rPr>
                        <a:t>89.05</a:t>
                      </a:r>
                    </a:p>
                  </a:txBody>
                  <a:tcPr anchor="ctr"/>
                </a:tc>
                <a:extLst>
                  <a:ext uri="{0D108BD9-81ED-4DB2-BD59-A6C34878D82A}">
                    <a16:rowId xmlns:a16="http://schemas.microsoft.com/office/drawing/2014/main" val="1187603327"/>
                  </a:ext>
                </a:extLst>
              </a:tr>
              <a:tr h="0">
                <a:tc>
                  <a:txBody>
                    <a:bodyPr/>
                    <a:lstStyle/>
                    <a:p>
                      <a:r>
                        <a:rPr lang="en-US" sz="1600">
                          <a:latin typeface="Times New Roman" panose="02020603050405020304" pitchFamily="18" charset="0"/>
                          <a:cs typeface="Times New Roman" panose="02020603050405020304" pitchFamily="18" charset="0"/>
                        </a:rPr>
                        <a:t>DINO</a:t>
                      </a:r>
                    </a:p>
                  </a:txBody>
                  <a:tcPr anchor="ctr"/>
                </a:tc>
                <a:tc>
                  <a:txBody>
                    <a:bodyPr/>
                    <a:lstStyle/>
                    <a:p>
                      <a:r>
                        <a:rPr lang="en-US" sz="1600">
                          <a:latin typeface="Times New Roman" panose="02020603050405020304" pitchFamily="18" charset="0"/>
                          <a:cs typeface="Times New Roman" panose="02020603050405020304" pitchFamily="18" charset="0"/>
                        </a:rPr>
                        <a:t>ViT-B/16</a:t>
                      </a:r>
                    </a:p>
                  </a:txBody>
                  <a:tcPr anchor="ctr"/>
                </a:tc>
                <a:tc>
                  <a:txBody>
                    <a:bodyPr/>
                    <a:lstStyle/>
                    <a:p>
                      <a:r>
                        <a:rPr lang="en-US" sz="1600">
                          <a:latin typeface="Times New Roman" panose="02020603050405020304" pitchFamily="18" charset="0"/>
                          <a:cs typeface="Times New Roman" panose="02020603050405020304" pitchFamily="18" charset="0"/>
                        </a:rPr>
                        <a:t>Full FT</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1</a:t>
                      </a:r>
                    </a:p>
                  </a:txBody>
                  <a:tcPr anchor="ctr"/>
                </a:tc>
                <a:tc>
                  <a:txBody>
                    <a:bodyPr/>
                    <a:lstStyle/>
                    <a:p>
                      <a:r>
                        <a:rPr lang="en-US" sz="1600">
                          <a:latin typeface="Times New Roman" panose="02020603050405020304" pitchFamily="18" charset="0"/>
                          <a:cs typeface="Times New Roman" panose="02020603050405020304" pitchFamily="18" charset="0"/>
                        </a:rPr>
                        <a:t>88.15</a:t>
                      </a:r>
                    </a:p>
                  </a:txBody>
                  <a:tcPr anchor="ctr"/>
                </a:tc>
                <a:tc>
                  <a:txBody>
                    <a:bodyPr/>
                    <a:lstStyle/>
                    <a:p>
                      <a:r>
                        <a:rPr lang="en-US" sz="1600">
                          <a:latin typeface="Times New Roman" panose="02020603050405020304" pitchFamily="18" charset="0"/>
                          <a:cs typeface="Times New Roman" panose="02020603050405020304" pitchFamily="18" charset="0"/>
                        </a:rPr>
                        <a:t>93.25</a:t>
                      </a:r>
                    </a:p>
                  </a:txBody>
                  <a:tcPr anchor="ctr"/>
                </a:tc>
                <a:tc>
                  <a:txBody>
                    <a:bodyPr/>
                    <a:lstStyle/>
                    <a:p>
                      <a:r>
                        <a:rPr lang="en-US" sz="1600">
                          <a:latin typeface="Times New Roman" panose="02020603050405020304" pitchFamily="18" charset="0"/>
                          <a:cs typeface="Times New Roman" panose="02020603050405020304" pitchFamily="18" charset="0"/>
                        </a:rPr>
                        <a:t>87.88</a:t>
                      </a:r>
                    </a:p>
                  </a:txBody>
                  <a:tcPr anchor="ctr"/>
                </a:tc>
                <a:tc>
                  <a:txBody>
                    <a:bodyPr/>
                    <a:lstStyle/>
                    <a:p>
                      <a:r>
                        <a:rPr lang="en-US" sz="1600" dirty="0">
                          <a:latin typeface="Times New Roman" panose="02020603050405020304" pitchFamily="18" charset="0"/>
                          <a:cs typeface="Times New Roman" panose="02020603050405020304" pitchFamily="18" charset="0"/>
                        </a:rPr>
                        <a:t>84.45</a:t>
                      </a:r>
                    </a:p>
                  </a:txBody>
                  <a:tcPr anchor="ctr"/>
                </a:tc>
                <a:extLst>
                  <a:ext uri="{0D108BD9-81ED-4DB2-BD59-A6C34878D82A}">
                    <a16:rowId xmlns:a16="http://schemas.microsoft.com/office/drawing/2014/main" val="1927513291"/>
                  </a:ext>
                </a:extLst>
              </a:tr>
            </a:tbl>
          </a:graphicData>
        </a:graphic>
      </p:graphicFrame>
    </p:spTree>
    <p:extLst>
      <p:ext uri="{BB962C8B-B14F-4D97-AF65-F5344CB8AC3E}">
        <p14:creationId xmlns:p14="http://schemas.microsoft.com/office/powerpoint/2010/main" val="3035460500"/>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66231-684F-2513-F3AF-7D1828547720}"/>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8DB70A5C-BF41-5AB0-5A44-52D7A9357E5C}"/>
              </a:ext>
            </a:extLst>
          </p:cNvPr>
          <p:cNvSpPr txBox="1"/>
          <p:nvPr/>
        </p:nvSpPr>
        <p:spPr>
          <a:xfrm>
            <a:off x="596537" y="2133121"/>
            <a:ext cx="3432256" cy="3477875"/>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ROC curves demonstrate high discriminative power for all SSL methods.</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dirty="0" err="1">
                <a:latin typeface="Times New Roman" pitchFamily="18" charset="0"/>
                <a:cs typeface="Times New Roman" pitchFamily="18" charset="0"/>
              </a:rPr>
              <a:t>SimCLR</a:t>
            </a:r>
            <a:r>
              <a:rPr lang="en-US" sz="2000" dirty="0">
                <a:latin typeface="Times New Roman" pitchFamily="18" charset="0"/>
                <a:cs typeface="Times New Roman" pitchFamily="18" charset="0"/>
              </a:rPr>
              <a:t> (Fine-Tuned) shows the highest Area Under the Curve (AUC) values across all four diagnostic classes, indicating superior and balanced performance.</a:t>
            </a:r>
          </a:p>
        </p:txBody>
      </p:sp>
      <p:sp>
        <p:nvSpPr>
          <p:cNvPr id="5" name="TextBox 4">
            <a:extLst>
              <a:ext uri="{FF2B5EF4-FFF2-40B4-BE49-F238E27FC236}">
                <a16:creationId xmlns:a16="http://schemas.microsoft.com/office/drawing/2014/main" id="{F3F9A1E7-A729-0682-83CA-CC5A588705ED}"/>
              </a:ext>
            </a:extLst>
          </p:cNvPr>
          <p:cNvSpPr txBox="1"/>
          <p:nvPr/>
        </p:nvSpPr>
        <p:spPr>
          <a:xfrm flipH="1">
            <a:off x="6317673" y="233608"/>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 Cont.</a:t>
            </a:r>
          </a:p>
        </p:txBody>
      </p:sp>
      <p:cxnSp>
        <p:nvCxnSpPr>
          <p:cNvPr id="8" name="Straight Connector 7">
            <a:extLst>
              <a:ext uri="{FF2B5EF4-FFF2-40B4-BE49-F238E27FC236}">
                <a16:creationId xmlns:a16="http://schemas.microsoft.com/office/drawing/2014/main" id="{0CA1EAE8-7CEC-2CD9-B15F-FC5517CC2945}"/>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B5B909B4-0721-359D-1FFD-5226C1B9E550}"/>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7A24079D-6484-1907-290E-4CDD7DD8B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87BEC3FE-E15C-032F-0092-F0359C038290}"/>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5D08D772-18DB-39B9-CA0E-3ED4C392D85B}"/>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AA6F077-52BD-BB5E-A11B-58F365D40759}"/>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2AF7FD35-1258-3A04-B9FF-9EB3D189C3E3}"/>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14</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EC085D5-D7E5-A4E5-0325-61EBE4050A4F}"/>
              </a:ext>
            </a:extLst>
          </p:cNvPr>
          <p:cNvSpPr txBox="1"/>
          <p:nvPr/>
        </p:nvSpPr>
        <p:spPr>
          <a:xfrm>
            <a:off x="596536" y="1495029"/>
            <a:ext cx="10998927" cy="400110"/>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Per-Class Performance</a:t>
            </a:r>
            <a:endParaRPr lang="en-US" sz="2000" dirty="0">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FF4B517B-6DFD-6123-1489-199FD713E93A}"/>
              </a:ext>
            </a:extLst>
          </p:cNvPr>
          <p:cNvSpPr txBox="1"/>
          <p:nvPr/>
        </p:nvSpPr>
        <p:spPr>
          <a:xfrm>
            <a:off x="4255129" y="5647875"/>
            <a:ext cx="7586804" cy="738664"/>
          </a:xfrm>
          <a:prstGeom prst="rect">
            <a:avLst/>
          </a:prstGeom>
          <a:noFill/>
        </p:spPr>
        <p:txBody>
          <a:bodyPr wrap="square" rtlCol="0">
            <a:spAutoFit/>
          </a:bodyPr>
          <a:lstStyle/>
          <a:p>
            <a:pPr algn="just"/>
            <a:r>
              <a:rPr lang="en-US" sz="1400" i="1" dirty="0">
                <a:latin typeface="Times New Roman" panose="02020603050405020304" pitchFamily="18" charset="0"/>
                <a:cs typeface="Times New Roman" panose="02020603050405020304" pitchFamily="18" charset="0"/>
              </a:rPr>
              <a:t>Figure 3: ROC curves for the four classes (MD, MoD, ND, VMD) using </a:t>
            </a:r>
            <a:r>
              <a:rPr lang="en-US" sz="1400" i="1" dirty="0" err="1">
                <a:latin typeface="Times New Roman" panose="02020603050405020304" pitchFamily="18" charset="0"/>
                <a:cs typeface="Times New Roman" panose="02020603050405020304" pitchFamily="18" charset="0"/>
              </a:rPr>
              <a:t>SimCLR</a:t>
            </a:r>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rPr>
              <a:t>ConvNeXt</a:t>
            </a:r>
            <a:r>
              <a:rPr lang="en-US" sz="1400" i="1" dirty="0">
                <a:latin typeface="Times New Roman" panose="02020603050405020304" pitchFamily="18" charset="0"/>
                <a:cs typeface="Times New Roman" panose="02020603050405020304" pitchFamily="18" charset="0"/>
              </a:rPr>
              <a:t>-S), BYOL (ResNet-50), and DINO (</a:t>
            </a:r>
            <a:r>
              <a:rPr lang="en-US" sz="1400" i="1" dirty="0" err="1">
                <a:latin typeface="Times New Roman" panose="02020603050405020304" pitchFamily="18" charset="0"/>
                <a:cs typeface="Times New Roman" panose="02020603050405020304" pitchFamily="18" charset="0"/>
              </a:rPr>
              <a:t>ViT</a:t>
            </a:r>
            <a:r>
              <a:rPr lang="en-US" sz="1400" i="1" dirty="0">
                <a:latin typeface="Times New Roman" panose="02020603050405020304" pitchFamily="18" charset="0"/>
                <a:cs typeface="Times New Roman" panose="02020603050405020304" pitchFamily="18" charset="0"/>
              </a:rPr>
              <a:t>-B/16) under fine-tuned and linear probe settings, with  corresponding AUC values shown in the legend demonstrate </a:t>
            </a:r>
            <a:r>
              <a:rPr lang="en-US" sz="1400" i="1" dirty="0" err="1">
                <a:latin typeface="Times New Roman" panose="02020603050405020304" pitchFamily="18" charset="0"/>
                <a:cs typeface="Times New Roman" panose="02020603050405020304" pitchFamily="18" charset="0"/>
              </a:rPr>
              <a:t>SimCLR</a:t>
            </a:r>
            <a:r>
              <a:rPr lang="en-US" sz="1400" i="1" dirty="0">
                <a:latin typeface="Times New Roman" panose="02020603050405020304" pitchFamily="18" charset="0"/>
                <a:cs typeface="Times New Roman" panose="02020603050405020304" pitchFamily="18" charset="0"/>
              </a:rPr>
              <a:t> performing better than others.</a:t>
            </a:r>
            <a:endParaRPr lang="en-US" sz="1400" dirty="0">
              <a:latin typeface="Times New Roman" panose="02020603050405020304" pitchFamily="18" charset="0"/>
              <a:cs typeface="Times New Roman" panose="02020603050405020304" pitchFamily="18" charset="0"/>
            </a:endParaRPr>
          </a:p>
        </p:txBody>
      </p:sp>
      <p:pic>
        <p:nvPicPr>
          <p:cNvPr id="4" name="Picture 3" descr="A graph of a number of different colored lines&#10;&#10;AI-generated content may be incorrect.">
            <a:extLst>
              <a:ext uri="{FF2B5EF4-FFF2-40B4-BE49-F238E27FC236}">
                <a16:creationId xmlns:a16="http://schemas.microsoft.com/office/drawing/2014/main" id="{D22FC05F-D4A5-FA93-02A2-5CFE61AD8F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4035" y="1525052"/>
            <a:ext cx="7772400" cy="4072320"/>
          </a:xfrm>
          <a:prstGeom prst="rect">
            <a:avLst/>
          </a:prstGeom>
        </p:spPr>
      </p:pic>
    </p:spTree>
    <p:extLst>
      <p:ext uri="{BB962C8B-B14F-4D97-AF65-F5344CB8AC3E}">
        <p14:creationId xmlns:p14="http://schemas.microsoft.com/office/powerpoint/2010/main" val="2192643168"/>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12E40-0B77-763C-3D2E-7C4AE7332051}"/>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095C3029-CCCF-F087-ACCF-FE2FD327D066}"/>
              </a:ext>
            </a:extLst>
          </p:cNvPr>
          <p:cNvSpPr txBox="1"/>
          <p:nvPr/>
        </p:nvSpPr>
        <p:spPr>
          <a:xfrm>
            <a:off x="907508" y="2133121"/>
            <a:ext cx="10298373" cy="400110"/>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Our proposed model sets a new benchmark for accuracy on this task.</a:t>
            </a:r>
          </a:p>
        </p:txBody>
      </p:sp>
      <p:sp>
        <p:nvSpPr>
          <p:cNvPr id="5" name="TextBox 4">
            <a:extLst>
              <a:ext uri="{FF2B5EF4-FFF2-40B4-BE49-F238E27FC236}">
                <a16:creationId xmlns:a16="http://schemas.microsoft.com/office/drawing/2014/main" id="{C6A085DF-972C-3BEF-7530-EEEB947F06D5}"/>
              </a:ext>
            </a:extLst>
          </p:cNvPr>
          <p:cNvSpPr txBox="1"/>
          <p:nvPr/>
        </p:nvSpPr>
        <p:spPr>
          <a:xfrm flipH="1">
            <a:off x="6317673" y="282706"/>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Result Cont.</a:t>
            </a:r>
          </a:p>
        </p:txBody>
      </p:sp>
      <p:cxnSp>
        <p:nvCxnSpPr>
          <p:cNvPr id="8" name="Straight Connector 7">
            <a:extLst>
              <a:ext uri="{FF2B5EF4-FFF2-40B4-BE49-F238E27FC236}">
                <a16:creationId xmlns:a16="http://schemas.microsoft.com/office/drawing/2014/main" id="{E3C104AE-4E41-1D61-A09D-893B4F9DD4E4}"/>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80E2AE45-B398-3A96-0802-B9149C1BCFF7}"/>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608CB605-32D2-151E-8723-ADBF55E5D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264B6508-FFEA-A1BE-4285-AFD67F8147F1}"/>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38FE7DA7-B8A4-A6F5-D784-9B9086E76415}"/>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56192B7-16F9-C363-6071-43390B06B0B7}"/>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CBF0AF81-ECB2-774C-23E8-E956F03F4C69}"/>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15</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601360A-2EC4-9A20-3694-CE6296EF2B72}"/>
              </a:ext>
            </a:extLst>
          </p:cNvPr>
          <p:cNvSpPr txBox="1"/>
          <p:nvPr/>
        </p:nvSpPr>
        <p:spPr>
          <a:xfrm>
            <a:off x="596536" y="1495029"/>
            <a:ext cx="10998927" cy="400110"/>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State-of-the-Art Comparison</a:t>
            </a:r>
            <a:endParaRPr lang="en-US" sz="2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DE19E9C-4C9A-8634-F83B-3980FD104BC5}"/>
                  </a:ext>
                </a:extLst>
              </p:cNvPr>
              <p:cNvGraphicFramePr>
                <a:graphicFrameLocks noGrp="1"/>
              </p:cNvGraphicFramePr>
              <p:nvPr>
                <p:extLst>
                  <p:ext uri="{D42A27DB-BD31-4B8C-83A1-F6EECF244321}">
                    <p14:modId xmlns:p14="http://schemas.microsoft.com/office/powerpoint/2010/main" val="2803258652"/>
                  </p:ext>
                </p:extLst>
              </p:nvPr>
            </p:nvGraphicFramePr>
            <p:xfrm>
              <a:off x="838200" y="3180520"/>
              <a:ext cx="10515600" cy="2560320"/>
            </p:xfrm>
            <a:graphic>
              <a:graphicData uri="http://schemas.openxmlformats.org/drawingml/2006/table">
                <a:tbl>
                  <a:tblPr>
                    <a:tableStyleId>{16D9F66E-5EB9-4882-86FB-DCBF35E3C3E4}</a:tableStyleId>
                  </a:tblPr>
                  <a:tblGrid>
                    <a:gridCol w="5257800">
                      <a:extLst>
                        <a:ext uri="{9D8B030D-6E8A-4147-A177-3AD203B41FA5}">
                          <a16:colId xmlns:a16="http://schemas.microsoft.com/office/drawing/2014/main" val="1729461975"/>
                        </a:ext>
                      </a:extLst>
                    </a:gridCol>
                    <a:gridCol w="5257800">
                      <a:extLst>
                        <a:ext uri="{9D8B030D-6E8A-4147-A177-3AD203B41FA5}">
                          <a16:colId xmlns:a16="http://schemas.microsoft.com/office/drawing/2014/main" val="3326998607"/>
                        </a:ext>
                      </a:extLst>
                    </a:gridCol>
                  </a:tblGrid>
                  <a:tr h="0">
                    <a:tc>
                      <a:txBody>
                        <a:bodyPr/>
                        <a:lstStyle/>
                        <a:p>
                          <a:pPr>
                            <a:buNone/>
                          </a:pPr>
                          <a:r>
                            <a:rPr lang="en-US" b="1">
                              <a:latin typeface="Times New Roman" panose="02020603050405020304" pitchFamily="18" charset="0"/>
                              <a:cs typeface="Times New Roman" panose="02020603050405020304" pitchFamily="18" charset="0"/>
                            </a:rPr>
                            <a:t>Reference</a:t>
                          </a: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Accuracy (%)</a:t>
                          </a:r>
                        </a:p>
                      </a:txBody>
                      <a:tcPr anchor="ctr"/>
                    </a:tc>
                    <a:extLst>
                      <a:ext uri="{0D108BD9-81ED-4DB2-BD59-A6C34878D82A}">
                        <a16:rowId xmlns:a16="http://schemas.microsoft.com/office/drawing/2014/main" val="1992701471"/>
                      </a:ext>
                    </a:extLst>
                  </a:tr>
                  <a:tr h="0">
                    <a:tc>
                      <a:txBody>
                        <a:bodyPr/>
                        <a:lstStyle/>
                        <a:p>
                          <a:pPr>
                            <a:buNone/>
                          </a:pPr>
                          <a:r>
                            <a:rPr lang="en-US" dirty="0">
                              <a:latin typeface="Times New Roman" panose="02020603050405020304" pitchFamily="18" charset="0"/>
                              <a:cs typeface="Times New Roman" panose="02020603050405020304" pitchFamily="18" charset="0"/>
                            </a:rPr>
                            <a:t>Murugan et al. [1]</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95.23</a:t>
                          </a:r>
                        </a:p>
                      </a:txBody>
                      <a:tcPr anchor="ctr"/>
                    </a:tc>
                    <a:extLst>
                      <a:ext uri="{0D108BD9-81ED-4DB2-BD59-A6C34878D82A}">
                        <a16:rowId xmlns:a16="http://schemas.microsoft.com/office/drawing/2014/main" val="2921264949"/>
                      </a:ext>
                    </a:extLst>
                  </a:tr>
                  <a:tr h="0">
                    <a:tc>
                      <a:txBody>
                        <a:bodyPr/>
                        <a:lstStyle/>
                        <a:p>
                          <a:pPr>
                            <a:buNone/>
                          </a:pPr>
                          <a:r>
                            <a:rPr lang="en-US" dirty="0">
                              <a:latin typeface="Times New Roman" panose="02020603050405020304" pitchFamily="18" charset="0"/>
                              <a:cs typeface="Times New Roman" panose="02020603050405020304" pitchFamily="18" charset="0"/>
                            </a:rPr>
                            <a:t>Fan et al. [2]</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86.47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a:latin typeface="Times New Roman" panose="02020603050405020304" pitchFamily="18" charset="0"/>
                              <a:cs typeface="Times New Roman" panose="02020603050405020304" pitchFamily="18" charset="0"/>
                            </a:rPr>
                            <a:t> 90.60</a:t>
                          </a:r>
                        </a:p>
                      </a:txBody>
                      <a:tcPr anchor="ctr"/>
                    </a:tc>
                    <a:extLst>
                      <a:ext uri="{0D108BD9-81ED-4DB2-BD59-A6C34878D82A}">
                        <a16:rowId xmlns:a16="http://schemas.microsoft.com/office/drawing/2014/main" val="945527712"/>
                      </a:ext>
                    </a:extLst>
                  </a:tr>
                  <a:tr h="0">
                    <a:tc>
                      <a:txBody>
                        <a:bodyPr/>
                        <a:lstStyle/>
                        <a:p>
                          <a:pPr>
                            <a:buNone/>
                          </a:pPr>
                          <a:r>
                            <a:rPr lang="en-US" dirty="0">
                              <a:latin typeface="Times New Roman" panose="02020603050405020304" pitchFamily="18" charset="0"/>
                              <a:cs typeface="Times New Roman" panose="02020603050405020304" pitchFamily="18" charset="0"/>
                            </a:rPr>
                            <a:t>Mehmood et al. [6]</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94.38</a:t>
                          </a:r>
                        </a:p>
                      </a:txBody>
                      <a:tcPr anchor="ctr"/>
                    </a:tc>
                    <a:extLst>
                      <a:ext uri="{0D108BD9-81ED-4DB2-BD59-A6C34878D82A}">
                        <a16:rowId xmlns:a16="http://schemas.microsoft.com/office/drawing/2014/main" val="636879935"/>
                      </a:ext>
                    </a:extLst>
                  </a:tr>
                  <a:tr h="0">
                    <a:tc>
                      <a:txBody>
                        <a:bodyPr/>
                        <a:lstStyle/>
                        <a:p>
                          <a:pPr>
                            <a:buNone/>
                          </a:pPr>
                          <a:r>
                            <a:rPr lang="en-US" dirty="0">
                              <a:latin typeface="Times New Roman" panose="02020603050405020304" pitchFamily="18" charset="0"/>
                              <a:cs typeface="Times New Roman" panose="02020603050405020304" pitchFamily="18" charset="0"/>
                            </a:rPr>
                            <a:t>Helaly et al. [3]</a:t>
                          </a:r>
                        </a:p>
                      </a:txBody>
                      <a:tcPr anchor="ctr"/>
                    </a:tc>
                    <a:tc>
                      <a:txBody>
                        <a:bodyPr/>
                        <a:lstStyle/>
                        <a:p>
                          <a:pPr algn="ctr">
                            <a:buNone/>
                          </a:pPr>
                          <a:r>
                            <a:rPr lang="en-US">
                              <a:latin typeface="Times New Roman" panose="02020603050405020304" pitchFamily="18" charset="0"/>
                              <a:cs typeface="Times New Roman" panose="02020603050405020304" pitchFamily="18" charset="0"/>
                            </a:rPr>
                            <a:t>94.34</a:t>
                          </a:r>
                        </a:p>
                      </a:txBody>
                      <a:tcPr anchor="ctr"/>
                    </a:tc>
                    <a:extLst>
                      <a:ext uri="{0D108BD9-81ED-4DB2-BD59-A6C34878D82A}">
                        <a16:rowId xmlns:a16="http://schemas.microsoft.com/office/drawing/2014/main" val="3294995258"/>
                      </a:ext>
                    </a:extLst>
                  </a:tr>
                  <a:tr h="0">
                    <a:tc>
                      <a:txBody>
                        <a:bodyPr/>
                        <a:lstStyle/>
                        <a:p>
                          <a:pPr>
                            <a:buNone/>
                          </a:pPr>
                          <a:r>
                            <a:rPr lang="en-US" dirty="0" err="1">
                              <a:latin typeface="Times New Roman" panose="02020603050405020304" pitchFamily="18" charset="0"/>
                              <a:cs typeface="Times New Roman" panose="02020603050405020304" pitchFamily="18" charset="0"/>
                            </a:rPr>
                            <a:t>Hechkel</a:t>
                          </a:r>
                          <a:r>
                            <a:rPr lang="en-US" dirty="0">
                              <a:latin typeface="Times New Roman" panose="02020603050405020304" pitchFamily="18" charset="0"/>
                              <a:cs typeface="Times New Roman" panose="02020603050405020304" pitchFamily="18" charset="0"/>
                            </a:rPr>
                            <a:t> et al. [7]</a:t>
                          </a:r>
                        </a:p>
                      </a:txBody>
                      <a:tcPr anchor="ctr"/>
                    </a:tc>
                    <a:tc>
                      <a:txBody>
                        <a:bodyPr/>
                        <a:lstStyle/>
                        <a:p>
                          <a:pPr algn="ctr">
                            <a:buNone/>
                          </a:pPr>
                          <a:r>
                            <a:rPr lang="en-US">
                              <a:latin typeface="Times New Roman" panose="02020603050405020304" pitchFamily="18" charset="0"/>
                              <a:cs typeface="Times New Roman" panose="02020603050405020304" pitchFamily="18" charset="0"/>
                            </a:rPr>
                            <a:t>97.6 (Precision)</a:t>
                          </a:r>
                        </a:p>
                      </a:txBody>
                      <a:tcPr anchor="ctr"/>
                    </a:tc>
                    <a:extLst>
                      <a:ext uri="{0D108BD9-81ED-4DB2-BD59-A6C34878D82A}">
                        <a16:rowId xmlns:a16="http://schemas.microsoft.com/office/drawing/2014/main" val="1768586881"/>
                      </a:ext>
                    </a:extLst>
                  </a:tr>
                  <a:tr h="0">
                    <a:tc>
                      <a:txBody>
                        <a:bodyPr/>
                        <a:lstStyle/>
                        <a:p>
                          <a:pPr>
                            <a:buNone/>
                          </a:pPr>
                          <a:r>
                            <a:rPr lang="en-US" b="1" dirty="0">
                              <a:latin typeface="Times New Roman" panose="02020603050405020304" pitchFamily="18" charset="0"/>
                              <a:cs typeface="Times New Roman" panose="02020603050405020304" pitchFamily="18" charset="0"/>
                            </a:rPr>
                            <a:t>Proposed Method (</a:t>
                          </a:r>
                          <a:r>
                            <a:rPr lang="en-US" b="1" dirty="0" err="1">
                              <a:latin typeface="Times New Roman" panose="02020603050405020304" pitchFamily="18" charset="0"/>
                              <a:cs typeface="Times New Roman" panose="02020603050405020304" pitchFamily="18" charset="0"/>
                            </a:rPr>
                            <a:t>SimCLR</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98.21</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02984970"/>
                      </a:ext>
                    </a:extLst>
                  </a:tr>
                </a:tbl>
              </a:graphicData>
            </a:graphic>
          </p:graphicFrame>
        </mc:Choice>
        <mc:Fallback xmlns="">
          <p:graphicFrame>
            <p:nvGraphicFramePr>
              <p:cNvPr id="2" name="Table 1">
                <a:extLst>
                  <a:ext uri="{FF2B5EF4-FFF2-40B4-BE49-F238E27FC236}">
                    <a16:creationId xmlns:a16="http://schemas.microsoft.com/office/drawing/2014/main" id="{2DE19E9C-4C9A-8634-F83B-3980FD104BC5}"/>
                  </a:ext>
                </a:extLst>
              </p:cNvPr>
              <p:cNvGraphicFramePr>
                <a:graphicFrameLocks noGrp="1"/>
              </p:cNvGraphicFramePr>
              <p:nvPr>
                <p:extLst>
                  <p:ext uri="{D42A27DB-BD31-4B8C-83A1-F6EECF244321}">
                    <p14:modId xmlns:p14="http://schemas.microsoft.com/office/powerpoint/2010/main" val="2803258652"/>
                  </p:ext>
                </p:extLst>
              </p:nvPr>
            </p:nvGraphicFramePr>
            <p:xfrm>
              <a:off x="838200" y="3180520"/>
              <a:ext cx="10515600" cy="2560320"/>
            </p:xfrm>
            <a:graphic>
              <a:graphicData uri="http://schemas.openxmlformats.org/drawingml/2006/table">
                <a:tbl>
                  <a:tblPr>
                    <a:tableStyleId>{16D9F66E-5EB9-4882-86FB-DCBF35E3C3E4}</a:tableStyleId>
                  </a:tblPr>
                  <a:tblGrid>
                    <a:gridCol w="5257800">
                      <a:extLst>
                        <a:ext uri="{9D8B030D-6E8A-4147-A177-3AD203B41FA5}">
                          <a16:colId xmlns:a16="http://schemas.microsoft.com/office/drawing/2014/main" val="1729461975"/>
                        </a:ext>
                      </a:extLst>
                    </a:gridCol>
                    <a:gridCol w="5257800">
                      <a:extLst>
                        <a:ext uri="{9D8B030D-6E8A-4147-A177-3AD203B41FA5}">
                          <a16:colId xmlns:a16="http://schemas.microsoft.com/office/drawing/2014/main" val="3326998607"/>
                        </a:ext>
                      </a:extLst>
                    </a:gridCol>
                  </a:tblGrid>
                  <a:tr h="365760">
                    <a:tc>
                      <a:txBody>
                        <a:bodyPr/>
                        <a:lstStyle/>
                        <a:p>
                          <a:pPr>
                            <a:buNone/>
                          </a:pPr>
                          <a:r>
                            <a:rPr lang="en-US" b="1">
                              <a:latin typeface="Times New Roman" panose="02020603050405020304" pitchFamily="18" charset="0"/>
                              <a:cs typeface="Times New Roman" panose="02020603050405020304" pitchFamily="18" charset="0"/>
                            </a:rPr>
                            <a:t>Reference</a:t>
                          </a: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Accuracy (%)</a:t>
                          </a:r>
                        </a:p>
                      </a:txBody>
                      <a:tcPr anchor="ctr"/>
                    </a:tc>
                    <a:extLst>
                      <a:ext uri="{0D108BD9-81ED-4DB2-BD59-A6C34878D82A}">
                        <a16:rowId xmlns:a16="http://schemas.microsoft.com/office/drawing/2014/main" val="1992701471"/>
                      </a:ext>
                    </a:extLst>
                  </a:tr>
                  <a:tr h="365760">
                    <a:tc>
                      <a:txBody>
                        <a:bodyPr/>
                        <a:lstStyle/>
                        <a:p>
                          <a:pPr>
                            <a:buNone/>
                          </a:pPr>
                          <a:r>
                            <a:rPr lang="en-US" dirty="0">
                              <a:latin typeface="Times New Roman" panose="02020603050405020304" pitchFamily="18" charset="0"/>
                              <a:cs typeface="Times New Roman" panose="02020603050405020304" pitchFamily="18" charset="0"/>
                            </a:rPr>
                            <a:t>Murugan et al. [1]</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95.23</a:t>
                          </a:r>
                        </a:p>
                      </a:txBody>
                      <a:tcPr anchor="ctr"/>
                    </a:tc>
                    <a:extLst>
                      <a:ext uri="{0D108BD9-81ED-4DB2-BD59-A6C34878D82A}">
                        <a16:rowId xmlns:a16="http://schemas.microsoft.com/office/drawing/2014/main" val="2921264949"/>
                      </a:ext>
                    </a:extLst>
                  </a:tr>
                  <a:tr h="365760">
                    <a:tc>
                      <a:txBody>
                        <a:bodyPr/>
                        <a:lstStyle/>
                        <a:p>
                          <a:pPr>
                            <a:buNone/>
                          </a:pPr>
                          <a:r>
                            <a:rPr lang="en-US" dirty="0">
                              <a:latin typeface="Times New Roman" panose="02020603050405020304" pitchFamily="18" charset="0"/>
                              <a:cs typeface="Times New Roman" panose="02020603050405020304" pitchFamily="18" charset="0"/>
                            </a:rPr>
                            <a:t>Fan et al. [2]</a:t>
                          </a:r>
                        </a:p>
                      </a:txBody>
                      <a:tcPr anchor="ctr"/>
                    </a:tc>
                    <a:tc>
                      <a:txBody>
                        <a:bodyPr/>
                        <a:lstStyle/>
                        <a:p>
                          <a:endParaRPr lang="en-US"/>
                        </a:p>
                      </a:txBody>
                      <a:tcPr anchor="ctr">
                        <a:blipFill>
                          <a:blip r:embed="rId3"/>
                          <a:stretch>
                            <a:fillRect l="-100242" t="-206897" r="-483" b="-420690"/>
                          </a:stretch>
                        </a:blipFill>
                      </a:tcPr>
                    </a:tc>
                    <a:extLst>
                      <a:ext uri="{0D108BD9-81ED-4DB2-BD59-A6C34878D82A}">
                        <a16:rowId xmlns:a16="http://schemas.microsoft.com/office/drawing/2014/main" val="945527712"/>
                      </a:ext>
                    </a:extLst>
                  </a:tr>
                  <a:tr h="365760">
                    <a:tc>
                      <a:txBody>
                        <a:bodyPr/>
                        <a:lstStyle/>
                        <a:p>
                          <a:pPr>
                            <a:buNone/>
                          </a:pPr>
                          <a:r>
                            <a:rPr lang="en-US" dirty="0">
                              <a:latin typeface="Times New Roman" panose="02020603050405020304" pitchFamily="18" charset="0"/>
                              <a:cs typeface="Times New Roman" panose="02020603050405020304" pitchFamily="18" charset="0"/>
                            </a:rPr>
                            <a:t>Mehmood et al. [6]</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94.38</a:t>
                          </a:r>
                        </a:p>
                      </a:txBody>
                      <a:tcPr anchor="ctr"/>
                    </a:tc>
                    <a:extLst>
                      <a:ext uri="{0D108BD9-81ED-4DB2-BD59-A6C34878D82A}">
                        <a16:rowId xmlns:a16="http://schemas.microsoft.com/office/drawing/2014/main" val="636879935"/>
                      </a:ext>
                    </a:extLst>
                  </a:tr>
                  <a:tr h="365760">
                    <a:tc>
                      <a:txBody>
                        <a:bodyPr/>
                        <a:lstStyle/>
                        <a:p>
                          <a:pPr>
                            <a:buNone/>
                          </a:pPr>
                          <a:r>
                            <a:rPr lang="en-US" dirty="0">
                              <a:latin typeface="Times New Roman" panose="02020603050405020304" pitchFamily="18" charset="0"/>
                              <a:cs typeface="Times New Roman" panose="02020603050405020304" pitchFamily="18" charset="0"/>
                            </a:rPr>
                            <a:t>Helaly et al. [3]</a:t>
                          </a:r>
                        </a:p>
                      </a:txBody>
                      <a:tcPr anchor="ctr"/>
                    </a:tc>
                    <a:tc>
                      <a:txBody>
                        <a:bodyPr/>
                        <a:lstStyle/>
                        <a:p>
                          <a:pPr algn="ctr">
                            <a:buNone/>
                          </a:pPr>
                          <a:r>
                            <a:rPr lang="en-US">
                              <a:latin typeface="Times New Roman" panose="02020603050405020304" pitchFamily="18" charset="0"/>
                              <a:cs typeface="Times New Roman" panose="02020603050405020304" pitchFamily="18" charset="0"/>
                            </a:rPr>
                            <a:t>94.34</a:t>
                          </a:r>
                        </a:p>
                      </a:txBody>
                      <a:tcPr anchor="ctr"/>
                    </a:tc>
                    <a:extLst>
                      <a:ext uri="{0D108BD9-81ED-4DB2-BD59-A6C34878D82A}">
                        <a16:rowId xmlns:a16="http://schemas.microsoft.com/office/drawing/2014/main" val="3294995258"/>
                      </a:ext>
                    </a:extLst>
                  </a:tr>
                  <a:tr h="365760">
                    <a:tc>
                      <a:txBody>
                        <a:bodyPr/>
                        <a:lstStyle/>
                        <a:p>
                          <a:pPr>
                            <a:buNone/>
                          </a:pPr>
                          <a:r>
                            <a:rPr lang="en-US" dirty="0" err="1">
                              <a:latin typeface="Times New Roman" panose="02020603050405020304" pitchFamily="18" charset="0"/>
                              <a:cs typeface="Times New Roman" panose="02020603050405020304" pitchFamily="18" charset="0"/>
                            </a:rPr>
                            <a:t>Hechkel</a:t>
                          </a:r>
                          <a:r>
                            <a:rPr lang="en-US" dirty="0">
                              <a:latin typeface="Times New Roman" panose="02020603050405020304" pitchFamily="18" charset="0"/>
                              <a:cs typeface="Times New Roman" panose="02020603050405020304" pitchFamily="18" charset="0"/>
                            </a:rPr>
                            <a:t> et al. [7]</a:t>
                          </a:r>
                        </a:p>
                      </a:txBody>
                      <a:tcPr anchor="ctr"/>
                    </a:tc>
                    <a:tc>
                      <a:txBody>
                        <a:bodyPr/>
                        <a:lstStyle/>
                        <a:p>
                          <a:pPr algn="ctr">
                            <a:buNone/>
                          </a:pPr>
                          <a:r>
                            <a:rPr lang="en-US">
                              <a:latin typeface="Times New Roman" panose="02020603050405020304" pitchFamily="18" charset="0"/>
                              <a:cs typeface="Times New Roman" panose="02020603050405020304" pitchFamily="18" charset="0"/>
                            </a:rPr>
                            <a:t>97.6 (Precision)</a:t>
                          </a:r>
                        </a:p>
                      </a:txBody>
                      <a:tcPr anchor="ctr"/>
                    </a:tc>
                    <a:extLst>
                      <a:ext uri="{0D108BD9-81ED-4DB2-BD59-A6C34878D82A}">
                        <a16:rowId xmlns:a16="http://schemas.microsoft.com/office/drawing/2014/main" val="1768586881"/>
                      </a:ext>
                    </a:extLst>
                  </a:tr>
                  <a:tr h="365760">
                    <a:tc>
                      <a:txBody>
                        <a:bodyPr/>
                        <a:lstStyle/>
                        <a:p>
                          <a:pPr>
                            <a:buNone/>
                          </a:pPr>
                          <a:r>
                            <a:rPr lang="en-US" b="1" dirty="0">
                              <a:latin typeface="Times New Roman" panose="02020603050405020304" pitchFamily="18" charset="0"/>
                              <a:cs typeface="Times New Roman" panose="02020603050405020304" pitchFamily="18" charset="0"/>
                            </a:rPr>
                            <a:t>Proposed Method (</a:t>
                          </a:r>
                          <a:r>
                            <a:rPr lang="en-US" b="1" dirty="0" err="1">
                              <a:latin typeface="Times New Roman" panose="02020603050405020304" pitchFamily="18" charset="0"/>
                              <a:cs typeface="Times New Roman" panose="02020603050405020304" pitchFamily="18" charset="0"/>
                            </a:rPr>
                            <a:t>SimCLR</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b="1" dirty="0">
                              <a:latin typeface="Times New Roman" panose="02020603050405020304" pitchFamily="18" charset="0"/>
                              <a:cs typeface="Times New Roman" panose="02020603050405020304" pitchFamily="18" charset="0"/>
                            </a:rPr>
                            <a:t>98.21</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02984970"/>
                      </a:ext>
                    </a:extLst>
                  </a:tr>
                </a:tbl>
              </a:graphicData>
            </a:graphic>
          </p:graphicFrame>
        </mc:Fallback>
      </mc:AlternateContent>
      <p:sp>
        <p:nvSpPr>
          <p:cNvPr id="6" name="TextBox 5">
            <a:extLst>
              <a:ext uri="{FF2B5EF4-FFF2-40B4-BE49-F238E27FC236}">
                <a16:creationId xmlns:a16="http://schemas.microsoft.com/office/drawing/2014/main" id="{C5121B25-3C50-225E-B1F1-8C9EC396D0D5}"/>
              </a:ext>
            </a:extLst>
          </p:cNvPr>
          <p:cNvSpPr txBox="1"/>
          <p:nvPr/>
        </p:nvSpPr>
        <p:spPr>
          <a:xfrm>
            <a:off x="2209800" y="2734235"/>
            <a:ext cx="743011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Table 3: Comparison of the Proposed Model with the State-of-the-Art Models</a:t>
            </a:r>
          </a:p>
        </p:txBody>
      </p:sp>
    </p:spTree>
    <p:extLst>
      <p:ext uri="{BB962C8B-B14F-4D97-AF65-F5344CB8AC3E}">
        <p14:creationId xmlns:p14="http://schemas.microsoft.com/office/powerpoint/2010/main" val="1671522040"/>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160F4-36A1-7BFE-69F0-9DA6B3436E36}"/>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9A1F86B2-2D85-5A0D-7915-8ECED34DC892}"/>
              </a:ext>
            </a:extLst>
          </p:cNvPr>
          <p:cNvSpPr txBox="1"/>
          <p:nvPr/>
        </p:nvSpPr>
        <p:spPr>
          <a:xfrm>
            <a:off x="596536" y="1513922"/>
            <a:ext cx="10298373" cy="3477875"/>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This study successfully demonstrates that a contrastive self-supervised learning framework can significantly advance the automated diagnosis of Alzheimer’s disease from MRI images.</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The </a:t>
            </a:r>
            <a:r>
              <a:rPr lang="en-US" sz="2000" dirty="0" err="1">
                <a:latin typeface="Times New Roman" pitchFamily="18" charset="0"/>
                <a:cs typeface="Times New Roman" pitchFamily="18" charset="0"/>
              </a:rPr>
              <a:t>SimCLR</a:t>
            </a:r>
            <a:r>
              <a:rPr lang="en-US" sz="2000" dirty="0">
                <a:latin typeface="Times New Roman" pitchFamily="18" charset="0"/>
                <a:cs typeface="Times New Roman" pitchFamily="18" charset="0"/>
              </a:rPr>
              <a:t> model with a </a:t>
            </a:r>
            <a:r>
              <a:rPr lang="en-US" sz="2000" dirty="0" err="1">
                <a:latin typeface="Times New Roman" pitchFamily="18" charset="0"/>
                <a:cs typeface="Times New Roman" pitchFamily="18" charset="0"/>
              </a:rPr>
              <a:t>ConvNeXt</a:t>
            </a:r>
            <a:r>
              <a:rPr lang="en-US" sz="2000" dirty="0">
                <a:latin typeface="Times New Roman" pitchFamily="18" charset="0"/>
                <a:cs typeface="Times New Roman" pitchFamily="18" charset="0"/>
              </a:rPr>
              <a:t>-S backbone established a new state-of-the-art performance, proving its effectiveness.</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The framework’s high performance in few-shot learning scenarios highlights its capability to overcome the critical challenge of data scarcity in medical imaging.</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dirty="0">
                <a:latin typeface="Times New Roman" pitchFamily="18" charset="0"/>
                <a:cs typeface="Times New Roman" pitchFamily="18" charset="0"/>
              </a:rPr>
              <a:t>This approach has strong potential for real-world clinical deployment, offering a path to create accurate, data-efficient AI tools to assist clinicians and reduce diagnostic workload.</a:t>
            </a:r>
          </a:p>
        </p:txBody>
      </p:sp>
      <p:sp>
        <p:nvSpPr>
          <p:cNvPr id="5" name="TextBox 4">
            <a:extLst>
              <a:ext uri="{FF2B5EF4-FFF2-40B4-BE49-F238E27FC236}">
                <a16:creationId xmlns:a16="http://schemas.microsoft.com/office/drawing/2014/main" id="{B99ABC83-C158-D9CE-661F-61285E4A25B5}"/>
              </a:ext>
            </a:extLst>
          </p:cNvPr>
          <p:cNvSpPr txBox="1"/>
          <p:nvPr/>
        </p:nvSpPr>
        <p:spPr>
          <a:xfrm flipH="1">
            <a:off x="6317673" y="299449"/>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p:txBody>
      </p:sp>
      <p:cxnSp>
        <p:nvCxnSpPr>
          <p:cNvPr id="8" name="Straight Connector 7">
            <a:extLst>
              <a:ext uri="{FF2B5EF4-FFF2-40B4-BE49-F238E27FC236}">
                <a16:creationId xmlns:a16="http://schemas.microsoft.com/office/drawing/2014/main" id="{6F97E061-B1A5-1FE9-FA55-FEB4602A210F}"/>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7FAAF3E8-7DB2-A319-BAA2-017C36FB28E1}"/>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8899EFC1-92D9-25F5-152A-79160D6CF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96F61F05-7B83-A88B-20E2-7276347FD0C7}"/>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02912BB9-6C2A-AD82-D999-3E8AB4B2F3AA}"/>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464FA79-878F-5CD1-0324-A4C2A497EEAF}"/>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BC678D62-86C7-624B-C4E2-0C3B537B1F09}"/>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16</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848077"/>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0FE87-286C-7D8D-2FAC-727BAAE20848}"/>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4736F5F5-7E04-D782-55D0-F0BE80AFCC8B}"/>
              </a:ext>
            </a:extLst>
          </p:cNvPr>
          <p:cNvSpPr txBox="1"/>
          <p:nvPr/>
        </p:nvSpPr>
        <p:spPr>
          <a:xfrm>
            <a:off x="596536" y="1513922"/>
            <a:ext cx="10298373" cy="3477875"/>
          </a:xfrm>
          <a:prstGeom prst="rect">
            <a:avLst/>
          </a:prstGeom>
          <a:noFill/>
        </p:spPr>
        <p:txBody>
          <a:bodyPr wrap="square" rtlCol="0">
            <a:spAutoFit/>
          </a:bodyPr>
          <a:lstStyle/>
          <a:p>
            <a:pPr marL="342900" indent="-342900" algn="just">
              <a:buClr>
                <a:schemeClr val="tx2"/>
              </a:buClr>
              <a:buFont typeface="Wingdings" pitchFamily="2" charset="2"/>
              <a:buChar char="Ø"/>
            </a:pPr>
            <a:r>
              <a:rPr lang="en-US" sz="2000" b="1" dirty="0">
                <a:latin typeface="Times New Roman" pitchFamily="18" charset="0"/>
                <a:cs typeface="Times New Roman" pitchFamily="18" charset="0"/>
              </a:rPr>
              <a:t>Enhance Generalizability: </a:t>
            </a:r>
            <a:r>
              <a:rPr lang="en-US" sz="2000" dirty="0">
                <a:latin typeface="Times New Roman" pitchFamily="18" charset="0"/>
                <a:cs typeface="Times New Roman" pitchFamily="18" charset="0"/>
              </a:rPr>
              <a:t>Validate the model on large, multi-institutional datasets to ensure robustness across different scanners and patient populations.</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b="1" dirty="0">
                <a:latin typeface="Times New Roman" pitchFamily="18" charset="0"/>
                <a:cs typeface="Times New Roman" pitchFamily="18" charset="0"/>
              </a:rPr>
              <a:t>Integrate Multi-Modal Data: </a:t>
            </a:r>
            <a:r>
              <a:rPr lang="en-US" sz="2000" dirty="0">
                <a:latin typeface="Times New Roman" pitchFamily="18" charset="0"/>
                <a:cs typeface="Times New Roman" pitchFamily="18" charset="0"/>
              </a:rPr>
              <a:t>Incorporate other imaging modalities like PET and functional MRI to provide a more comprehensive diagnostic view.</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b="1" dirty="0">
                <a:latin typeface="Times New Roman" pitchFamily="18" charset="0"/>
                <a:cs typeface="Times New Roman" pitchFamily="18" charset="0"/>
              </a:rPr>
              <a:t>Explore Advanced Architectures: </a:t>
            </a:r>
            <a:r>
              <a:rPr lang="en-US" sz="2000" dirty="0">
                <a:latin typeface="Times New Roman" pitchFamily="18" charset="0"/>
                <a:cs typeface="Times New Roman" pitchFamily="18" charset="0"/>
              </a:rPr>
              <a:t>Investigate Vision Transformer (</a:t>
            </a:r>
            <a:r>
              <a:rPr lang="en-US" sz="2000" dirty="0" err="1">
                <a:latin typeface="Times New Roman" pitchFamily="18" charset="0"/>
                <a:cs typeface="Times New Roman" pitchFamily="18" charset="0"/>
              </a:rPr>
              <a:t>ViT</a:t>
            </a:r>
            <a:r>
              <a:rPr lang="en-US" sz="2000" dirty="0">
                <a:latin typeface="Times New Roman" pitchFamily="18" charset="0"/>
                <a:cs typeface="Times New Roman" pitchFamily="18" charset="0"/>
              </a:rPr>
              <a:t>) backbones, which are showing increasing promise in computer vision.</a:t>
            </a:r>
          </a:p>
          <a:p>
            <a:pPr marL="342900" indent="-342900" algn="just">
              <a:buClr>
                <a:schemeClr val="tx2"/>
              </a:buClr>
              <a:buFont typeface="Wingdings" pitchFamily="2" charset="2"/>
              <a:buChar char="Ø"/>
            </a:pPr>
            <a:endParaRPr lang="en-US" sz="2000" dirty="0">
              <a:latin typeface="Times New Roman" pitchFamily="18" charset="0"/>
              <a:cs typeface="Times New Roman" pitchFamily="18" charset="0"/>
            </a:endParaRPr>
          </a:p>
          <a:p>
            <a:pPr marL="342900" indent="-342900" algn="just">
              <a:buClr>
                <a:schemeClr val="tx2"/>
              </a:buClr>
              <a:buFont typeface="Wingdings" pitchFamily="2" charset="2"/>
              <a:buChar char="Ø"/>
            </a:pPr>
            <a:r>
              <a:rPr lang="en-US" sz="2000" b="1" dirty="0">
                <a:latin typeface="Times New Roman" pitchFamily="18" charset="0"/>
                <a:cs typeface="Times New Roman" pitchFamily="18" charset="0"/>
              </a:rPr>
              <a:t>Enable Collaborative Training: </a:t>
            </a:r>
            <a:r>
              <a:rPr lang="en-US" sz="2000" dirty="0">
                <a:latin typeface="Times New Roman" pitchFamily="18" charset="0"/>
                <a:cs typeface="Times New Roman" pitchFamily="18" charset="0"/>
              </a:rPr>
              <a:t>Develop federated learning protocols to train models across multiple institutions without compromising patient privacy.</a:t>
            </a:r>
          </a:p>
        </p:txBody>
      </p:sp>
      <p:sp>
        <p:nvSpPr>
          <p:cNvPr id="5" name="TextBox 4">
            <a:extLst>
              <a:ext uri="{FF2B5EF4-FFF2-40B4-BE49-F238E27FC236}">
                <a16:creationId xmlns:a16="http://schemas.microsoft.com/office/drawing/2014/main" id="{30CEA07D-9000-4A86-B712-DEE838463DD8}"/>
              </a:ext>
            </a:extLst>
          </p:cNvPr>
          <p:cNvSpPr txBox="1"/>
          <p:nvPr/>
        </p:nvSpPr>
        <p:spPr>
          <a:xfrm flipH="1">
            <a:off x="6317673" y="299449"/>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Work</a:t>
            </a:r>
          </a:p>
        </p:txBody>
      </p:sp>
      <p:cxnSp>
        <p:nvCxnSpPr>
          <p:cNvPr id="8" name="Straight Connector 7">
            <a:extLst>
              <a:ext uri="{FF2B5EF4-FFF2-40B4-BE49-F238E27FC236}">
                <a16:creationId xmlns:a16="http://schemas.microsoft.com/office/drawing/2014/main" id="{689F6BA6-6419-A190-324C-7E3B9AAFEABC}"/>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08E37F7C-A5E1-E438-6361-C838198E9F38}"/>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7A7E27CA-7A42-47D4-A170-5552CF9D5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7774F98D-7D0F-6D94-745C-60884A9BC616}"/>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1D57C930-AC02-D352-C519-A6B96A4F275C}"/>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5713110-C160-6DF1-809E-E600AFD7033B}"/>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433DCBA8-5146-9A6C-044C-70E04F334B8A}"/>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17</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768735"/>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AA3A3-4D98-49B9-52E8-A87CDE50B89E}"/>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DCA02B18-4D51-D839-C98D-BB855E51CB11}"/>
              </a:ext>
            </a:extLst>
          </p:cNvPr>
          <p:cNvSpPr txBox="1"/>
          <p:nvPr/>
        </p:nvSpPr>
        <p:spPr>
          <a:xfrm>
            <a:off x="596536" y="1513922"/>
            <a:ext cx="11201017" cy="4524315"/>
          </a:xfrm>
          <a:prstGeom prst="rect">
            <a:avLst/>
          </a:prstGeom>
          <a:noFill/>
        </p:spPr>
        <p:txBody>
          <a:bodyPr wrap="square" rtlCol="0">
            <a:spAutoFit/>
          </a:bodyPr>
          <a:lstStyle/>
          <a:p>
            <a:pPr algn="just">
              <a:buClr>
                <a:schemeClr val="tx2"/>
              </a:buClr>
            </a:pPr>
            <a:r>
              <a:rPr lang="en-US" sz="1600" dirty="0">
                <a:latin typeface="Times New Roman" pitchFamily="18" charset="0"/>
                <a:cs typeface="Times New Roman" pitchFamily="18" charset="0"/>
              </a:rPr>
              <a:t>[1] Suriya Murugan, Chandran Venkatesan, MG Sumithra, Xiao-Zhi Gao, B Elakkiya, Muthuramalingam Akila, and S Manoharan. </a:t>
            </a:r>
            <a:r>
              <a:rPr lang="en-US" sz="1600" dirty="0" err="1">
                <a:latin typeface="Times New Roman" pitchFamily="18" charset="0"/>
                <a:cs typeface="Times New Roman" pitchFamily="18" charset="0"/>
              </a:rPr>
              <a:t>Demnet</a:t>
            </a:r>
            <a:r>
              <a:rPr lang="en-US" sz="1600" dirty="0">
                <a:latin typeface="Times New Roman" pitchFamily="18" charset="0"/>
                <a:cs typeface="Times New Roman" pitchFamily="18" charset="0"/>
              </a:rPr>
              <a:t>: a deep learning model for early diagnosis of </a:t>
            </a:r>
            <a:r>
              <a:rPr lang="en-US" sz="1600" dirty="0" err="1">
                <a:latin typeface="Times New Roman" pitchFamily="18" charset="0"/>
                <a:cs typeface="Times New Roman" pitchFamily="18" charset="0"/>
              </a:rPr>
              <a:t>alzheimer</a:t>
            </a:r>
            <a:r>
              <a:rPr lang="en-US" sz="1600" dirty="0">
                <a:latin typeface="Times New Roman" pitchFamily="18" charset="0"/>
                <a:cs typeface="Times New Roman" pitchFamily="18" charset="0"/>
              </a:rPr>
              <a:t> diseases and dementia from </a:t>
            </a:r>
            <a:r>
              <a:rPr lang="en-US" sz="1600" dirty="0" err="1">
                <a:latin typeface="Times New Roman" pitchFamily="18" charset="0"/>
                <a:cs typeface="Times New Roman" pitchFamily="18" charset="0"/>
              </a:rPr>
              <a:t>mr</a:t>
            </a:r>
            <a:r>
              <a:rPr lang="en-US" sz="1600" dirty="0">
                <a:latin typeface="Times New Roman" pitchFamily="18" charset="0"/>
                <a:cs typeface="Times New Roman" pitchFamily="18" charset="0"/>
              </a:rPr>
              <a:t> images. </a:t>
            </a:r>
            <a:r>
              <a:rPr lang="en-US" sz="1600" dirty="0" err="1">
                <a:latin typeface="Times New Roman" pitchFamily="18" charset="0"/>
                <a:cs typeface="Times New Roman" pitchFamily="18" charset="0"/>
              </a:rPr>
              <a:t>Ieee</a:t>
            </a:r>
            <a:r>
              <a:rPr lang="en-US" sz="1600" dirty="0">
                <a:latin typeface="Times New Roman" pitchFamily="18" charset="0"/>
                <a:cs typeface="Times New Roman" pitchFamily="18" charset="0"/>
              </a:rPr>
              <a:t> Access, 9:90319–90329, 2021.</a:t>
            </a:r>
          </a:p>
          <a:p>
            <a:pPr algn="just">
              <a:buClr>
                <a:schemeClr val="tx2"/>
              </a:buClr>
            </a:pPr>
            <a:r>
              <a:rPr lang="en-US" sz="1600" dirty="0">
                <a:latin typeface="Times New Roman" pitchFamily="18" charset="0"/>
                <a:cs typeface="Times New Roman" pitchFamily="18" charset="0"/>
              </a:rPr>
              <a:t>[2] </a:t>
            </a:r>
            <a:r>
              <a:rPr lang="en-US" sz="1600" dirty="0" err="1">
                <a:latin typeface="Times New Roman" pitchFamily="18" charset="0"/>
                <a:cs typeface="Times New Roman" pitchFamily="18" charset="0"/>
              </a:rPr>
              <a:t>Zhonghao</a:t>
            </a:r>
            <a:r>
              <a:rPr lang="en-US" sz="1600" dirty="0">
                <a:latin typeface="Times New Roman" pitchFamily="18" charset="0"/>
                <a:cs typeface="Times New Roman" pitchFamily="18" charset="0"/>
              </a:rPr>
              <a:t> Fan, Johann Li, Liang Zhang, </a:t>
            </a:r>
            <a:r>
              <a:rPr lang="en-US" sz="1600" dirty="0" err="1">
                <a:latin typeface="Times New Roman" pitchFamily="18" charset="0"/>
                <a:cs typeface="Times New Roman" pitchFamily="18" charset="0"/>
              </a:rPr>
              <a:t>Guangming</a:t>
            </a:r>
            <a:r>
              <a:rPr lang="en-US" sz="1600" dirty="0">
                <a:latin typeface="Times New Roman" pitchFamily="18" charset="0"/>
                <a:cs typeface="Times New Roman" pitchFamily="18" charset="0"/>
              </a:rPr>
              <a:t> Zhu, Ping Li, </a:t>
            </a:r>
            <a:r>
              <a:rPr lang="en-US" sz="1600" dirty="0" err="1">
                <a:latin typeface="Times New Roman" pitchFamily="18" charset="0"/>
                <a:cs typeface="Times New Roman" pitchFamily="18" charset="0"/>
              </a:rPr>
              <a:t>Xiaoyuan</a:t>
            </a:r>
            <a:r>
              <a:rPr lang="en-US" sz="1600" dirty="0">
                <a:latin typeface="Times New Roman" pitchFamily="18" charset="0"/>
                <a:cs typeface="Times New Roman" pitchFamily="18" charset="0"/>
              </a:rPr>
              <a:t> Lu, </a:t>
            </a:r>
            <a:r>
              <a:rPr lang="en-US" sz="1600" dirty="0" err="1">
                <a:latin typeface="Times New Roman" pitchFamily="18" charset="0"/>
                <a:cs typeface="Times New Roman" pitchFamily="18" charset="0"/>
              </a:rPr>
              <a:t>Peiyi</a:t>
            </a:r>
            <a:r>
              <a:rPr lang="en-US" sz="1600" dirty="0">
                <a:latin typeface="Times New Roman" pitchFamily="18" charset="0"/>
                <a:cs typeface="Times New Roman" pitchFamily="18" charset="0"/>
              </a:rPr>
              <a:t> Shen, Syed Afaq Ali Shah, Mohammed </a:t>
            </a:r>
            <a:r>
              <a:rPr lang="en-US" sz="1600" dirty="0" err="1">
                <a:latin typeface="Times New Roman" pitchFamily="18" charset="0"/>
                <a:cs typeface="Times New Roman" pitchFamily="18" charset="0"/>
              </a:rPr>
              <a:t>Bennamoun</a:t>
            </a:r>
            <a:r>
              <a:rPr lang="en-US" sz="1600" dirty="0">
                <a:latin typeface="Times New Roman" pitchFamily="18" charset="0"/>
                <a:cs typeface="Times New Roman" pitchFamily="18" charset="0"/>
              </a:rPr>
              <a:t>, Tao Hua, et al. U-net based analysis of </a:t>
            </a:r>
            <a:r>
              <a:rPr lang="en-US" sz="1600" dirty="0" err="1">
                <a:latin typeface="Times New Roman" pitchFamily="18" charset="0"/>
                <a:cs typeface="Times New Roman" pitchFamily="18" charset="0"/>
              </a:rPr>
              <a:t>mri</a:t>
            </a:r>
            <a:r>
              <a:rPr lang="en-US" sz="1600" dirty="0">
                <a:latin typeface="Times New Roman" pitchFamily="18" charset="0"/>
                <a:cs typeface="Times New Roman" pitchFamily="18" charset="0"/>
              </a:rPr>
              <a:t> for </a:t>
            </a:r>
            <a:r>
              <a:rPr lang="en-US" sz="1600" dirty="0" err="1">
                <a:latin typeface="Times New Roman" pitchFamily="18" charset="0"/>
                <a:cs typeface="Times New Roman" pitchFamily="18" charset="0"/>
              </a:rPr>
              <a:t>alzheimer’s</a:t>
            </a:r>
            <a:r>
              <a:rPr lang="en-US" sz="1600" dirty="0">
                <a:latin typeface="Times New Roman" pitchFamily="18" charset="0"/>
                <a:cs typeface="Times New Roman" pitchFamily="18" charset="0"/>
              </a:rPr>
              <a:t> disease diagnosis. Neural Computing and Applications, 33(20):13587–13599, 2021</a:t>
            </a:r>
          </a:p>
          <a:p>
            <a:pPr algn="just">
              <a:buClr>
                <a:schemeClr val="tx2"/>
              </a:buClr>
            </a:pPr>
            <a:r>
              <a:rPr lang="en-US" sz="1600" dirty="0">
                <a:latin typeface="Times New Roman" pitchFamily="18" charset="0"/>
                <a:cs typeface="Times New Roman" pitchFamily="18" charset="0"/>
              </a:rPr>
              <a:t>[3] Hadeer A Helaly, Mahmoud Badawy, and Amira Y Haikal. Toward deep </a:t>
            </a:r>
            <a:r>
              <a:rPr lang="en-US" sz="1600" dirty="0" err="1">
                <a:latin typeface="Times New Roman" pitchFamily="18" charset="0"/>
                <a:cs typeface="Times New Roman" pitchFamily="18" charset="0"/>
              </a:rPr>
              <a:t>mri</a:t>
            </a:r>
            <a:r>
              <a:rPr lang="en-US" sz="1600" dirty="0">
                <a:latin typeface="Times New Roman" pitchFamily="18" charset="0"/>
                <a:cs typeface="Times New Roman" pitchFamily="18" charset="0"/>
              </a:rPr>
              <a:t> segmentation for </a:t>
            </a:r>
            <a:r>
              <a:rPr lang="en-US" sz="1600" dirty="0" err="1">
                <a:latin typeface="Times New Roman" pitchFamily="18" charset="0"/>
                <a:cs typeface="Times New Roman" pitchFamily="18" charset="0"/>
              </a:rPr>
              <a:t>alzheimer’s</a:t>
            </a:r>
            <a:r>
              <a:rPr lang="en-US" sz="1600" dirty="0">
                <a:latin typeface="Times New Roman" pitchFamily="18" charset="0"/>
                <a:cs typeface="Times New Roman" pitchFamily="18" charset="0"/>
              </a:rPr>
              <a:t> disease detection. Neural Computing and Applications, 34(2):1047–1063, 2022</a:t>
            </a:r>
          </a:p>
          <a:p>
            <a:pPr algn="just">
              <a:buClr>
                <a:schemeClr val="tx2"/>
              </a:buClr>
            </a:pPr>
            <a:r>
              <a:rPr lang="en-US" sz="1600" dirty="0">
                <a:latin typeface="Times New Roman" pitchFamily="18" charset="0"/>
                <a:cs typeface="Times New Roman" pitchFamily="18" charset="0"/>
              </a:rPr>
              <a:t>[4] Min Gu Kwak, Yi Su, </a:t>
            </a:r>
            <a:r>
              <a:rPr lang="en-US" sz="1600" dirty="0" err="1">
                <a:latin typeface="Times New Roman" pitchFamily="18" charset="0"/>
                <a:cs typeface="Times New Roman" pitchFamily="18" charset="0"/>
              </a:rPr>
              <a:t>Kewei</a:t>
            </a:r>
            <a:r>
              <a:rPr lang="en-US" sz="1600" dirty="0">
                <a:latin typeface="Times New Roman" pitchFamily="18" charset="0"/>
                <a:cs typeface="Times New Roman" pitchFamily="18" charset="0"/>
              </a:rPr>
              <a:t> Chen, David Weidman, Teresa Wu, Fleming Lure, Jing Li, and Alzheimer’s Disease Neuroimaging Initiative. Self-supervised contrastive learning to predict the progression of </a:t>
            </a:r>
            <a:r>
              <a:rPr lang="en-US" sz="1600" dirty="0" err="1">
                <a:latin typeface="Times New Roman" pitchFamily="18" charset="0"/>
                <a:cs typeface="Times New Roman" pitchFamily="18" charset="0"/>
              </a:rPr>
              <a:t>alzheimer’s</a:t>
            </a:r>
            <a:r>
              <a:rPr lang="en-US" sz="1600" dirty="0">
                <a:latin typeface="Times New Roman" pitchFamily="18" charset="0"/>
                <a:cs typeface="Times New Roman" pitchFamily="18" charset="0"/>
              </a:rPr>
              <a:t> disease with 3d amyloid-pet. Bioengineering, 10(10):1141, 2023</a:t>
            </a:r>
          </a:p>
          <a:p>
            <a:pPr algn="just">
              <a:buClr>
                <a:schemeClr val="tx2"/>
              </a:buClr>
            </a:pPr>
            <a:r>
              <a:rPr lang="en-US" sz="1600" dirty="0">
                <a:latin typeface="Times New Roman" pitchFamily="18" charset="0"/>
                <a:cs typeface="Times New Roman" pitchFamily="18" charset="0"/>
              </a:rPr>
              <a:t>[5] </a:t>
            </a:r>
            <a:r>
              <a:rPr lang="en-US" sz="1600" dirty="0" err="1">
                <a:latin typeface="Times New Roman" pitchFamily="18" charset="0"/>
                <a:cs typeface="Times New Roman" pitchFamily="18" charset="0"/>
              </a:rPr>
              <a:t>Peiyuan</a:t>
            </a:r>
            <a:r>
              <a:rPr lang="en-US" sz="1600" dirty="0">
                <a:latin typeface="Times New Roman" pitchFamily="18" charset="0"/>
                <a:cs typeface="Times New Roman" pitchFamily="18" charset="0"/>
              </a:rPr>
              <a:t> Li, </a:t>
            </a:r>
            <a:r>
              <a:rPr lang="en-US" sz="1600" dirty="0" err="1">
                <a:latin typeface="Times New Roman" pitchFamily="18" charset="0"/>
                <a:cs typeface="Times New Roman" pitchFamily="18" charset="0"/>
              </a:rPr>
              <a:t>Zhuxin</a:t>
            </a:r>
            <a:r>
              <a:rPr lang="en-US" sz="1600" dirty="0">
                <a:latin typeface="Times New Roman" pitchFamily="18" charset="0"/>
                <a:cs typeface="Times New Roman" pitchFamily="18" charset="0"/>
              </a:rPr>
              <a:t> Peng, </a:t>
            </a:r>
            <a:r>
              <a:rPr lang="en-US" sz="1600" dirty="0" err="1">
                <a:latin typeface="Times New Roman" pitchFamily="18" charset="0"/>
                <a:cs typeface="Times New Roman" pitchFamily="18" charset="0"/>
              </a:rPr>
              <a:t>Qianyi</a:t>
            </a:r>
            <a:r>
              <a:rPr lang="en-US" sz="1600" dirty="0">
                <a:latin typeface="Times New Roman" pitchFamily="18" charset="0"/>
                <a:cs typeface="Times New Roman" pitchFamily="18" charset="0"/>
              </a:rPr>
              <a:t> Zhan, </a:t>
            </a:r>
            <a:r>
              <a:rPr lang="en-US" sz="1600" dirty="0" err="1">
                <a:latin typeface="Times New Roman" pitchFamily="18" charset="0"/>
                <a:cs typeface="Times New Roman" pitchFamily="18" charset="0"/>
              </a:rPr>
              <a:t>Zhenping</a:t>
            </a:r>
            <a:r>
              <a:rPr lang="en-US" sz="1600" dirty="0">
                <a:latin typeface="Times New Roman" pitchFamily="18" charset="0"/>
                <a:cs typeface="Times New Roman" pitchFamily="18" charset="0"/>
              </a:rPr>
              <a:t> Xie, and Yuan Liu. A contrastive learning framework for </a:t>
            </a:r>
            <a:r>
              <a:rPr lang="en-US" sz="1600" dirty="0" err="1">
                <a:latin typeface="Times New Roman" pitchFamily="18" charset="0"/>
                <a:cs typeface="Times New Roman" pitchFamily="18" charset="0"/>
              </a:rPr>
              <a:t>alzheimer’s</a:t>
            </a:r>
            <a:r>
              <a:rPr lang="en-US" sz="1600" dirty="0">
                <a:latin typeface="Times New Roman" pitchFamily="18" charset="0"/>
                <a:cs typeface="Times New Roman" pitchFamily="18" charset="0"/>
              </a:rPr>
              <a:t> disease classification (</a:t>
            </a:r>
            <a:r>
              <a:rPr lang="en-US" sz="1600" dirty="0" err="1">
                <a:latin typeface="Times New Roman" pitchFamily="18" charset="0"/>
                <a:cs typeface="Times New Roman" pitchFamily="18" charset="0"/>
              </a:rPr>
              <a:t>clfad</a:t>
            </a:r>
            <a:r>
              <a:rPr lang="en-US" sz="1600" dirty="0">
                <a:latin typeface="Times New Roman" pitchFamily="18" charset="0"/>
                <a:cs typeface="Times New Roman" pitchFamily="18" charset="0"/>
              </a:rPr>
              <a:t>). In International Conference on Intelligent Computing, pages 159–171. Springer, 2025.</a:t>
            </a:r>
          </a:p>
          <a:p>
            <a:pPr algn="just">
              <a:buClr>
                <a:schemeClr val="tx2"/>
              </a:buClr>
            </a:pPr>
            <a:r>
              <a:rPr lang="en-US" sz="1600" dirty="0">
                <a:latin typeface="Times New Roman" pitchFamily="18" charset="0"/>
                <a:cs typeface="Times New Roman" pitchFamily="18" charset="0"/>
              </a:rPr>
              <a:t>[6] Muhammad Hamza Mehmood, Farman Hassan, Auliya Ur Rahman, Abdul Rauf, and Muhammad Azaz Farooq. </a:t>
            </a:r>
            <a:r>
              <a:rPr lang="en-US" sz="1600" dirty="0" err="1">
                <a:latin typeface="Times New Roman" pitchFamily="18" charset="0"/>
                <a:cs typeface="Times New Roman" pitchFamily="18" charset="0"/>
              </a:rPr>
              <a:t>Alzr</a:t>
            </a:r>
            <a:r>
              <a:rPr lang="en-US" sz="1600" dirty="0">
                <a:latin typeface="Times New Roman" pitchFamily="18" charset="0"/>
                <a:cs typeface="Times New Roman" pitchFamily="18" charset="0"/>
              </a:rPr>
              <a:t>-net: a novel approach to detect Alzheimer disease. In 2023 International Conference on Communication, Computing and Digital Systems (C-CODE), pages 1–6. IEEE, 2023.</a:t>
            </a:r>
          </a:p>
          <a:p>
            <a:pPr algn="just">
              <a:buClr>
                <a:schemeClr val="tx2"/>
              </a:buClr>
            </a:pPr>
            <a:r>
              <a:rPr lang="en-US" sz="1600" dirty="0">
                <a:latin typeface="Times New Roman" pitchFamily="18" charset="0"/>
                <a:cs typeface="Times New Roman" pitchFamily="18" charset="0"/>
              </a:rPr>
              <a:t>[7] </a:t>
            </a:r>
            <a:r>
              <a:rPr lang="en-US" sz="1600" dirty="0" err="1">
                <a:latin typeface="Times New Roman" pitchFamily="18" charset="0"/>
                <a:cs typeface="Times New Roman" pitchFamily="18" charset="0"/>
              </a:rPr>
              <a:t>Wided</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Hechkel</a:t>
            </a:r>
            <a:r>
              <a:rPr lang="en-US" sz="1600" dirty="0">
                <a:latin typeface="Times New Roman" pitchFamily="18" charset="0"/>
                <a:cs typeface="Times New Roman" pitchFamily="18" charset="0"/>
              </a:rPr>
              <a:t>, Rim Missaoui, and Abdelhamid </a:t>
            </a:r>
            <a:r>
              <a:rPr lang="en-US" sz="1600" dirty="0" err="1">
                <a:latin typeface="Times New Roman" pitchFamily="18" charset="0"/>
                <a:cs typeface="Times New Roman" pitchFamily="18" charset="0"/>
              </a:rPr>
              <a:t>Helali</a:t>
            </a:r>
            <a:r>
              <a:rPr lang="en-US" sz="1600" dirty="0">
                <a:latin typeface="Times New Roman" pitchFamily="18" charset="0"/>
                <a:cs typeface="Times New Roman" pitchFamily="18" charset="0"/>
              </a:rPr>
              <a:t>. Early diagnosis of </a:t>
            </a:r>
            <a:r>
              <a:rPr lang="en-US" sz="1600" dirty="0" err="1">
                <a:latin typeface="Times New Roman" pitchFamily="18" charset="0"/>
                <a:cs typeface="Times New Roman" pitchFamily="18" charset="0"/>
              </a:rPr>
              <a:t>alzheimer’s</a:t>
            </a:r>
            <a:r>
              <a:rPr lang="en-US" sz="1600" dirty="0">
                <a:latin typeface="Times New Roman" pitchFamily="18" charset="0"/>
                <a:cs typeface="Times New Roman" pitchFamily="18" charset="0"/>
              </a:rPr>
              <a:t> disease using yolov11 deep learning model in </a:t>
            </a:r>
            <a:r>
              <a:rPr lang="en-US" sz="1600" dirty="0" err="1">
                <a:latin typeface="Times New Roman" pitchFamily="18" charset="0"/>
                <a:cs typeface="Times New Roman" pitchFamily="18" charset="0"/>
              </a:rPr>
              <a:t>mri</a:t>
            </a:r>
            <a:r>
              <a:rPr lang="en-US" sz="1600" dirty="0">
                <a:latin typeface="Times New Roman" pitchFamily="18" charset="0"/>
                <a:cs typeface="Times New Roman" pitchFamily="18" charset="0"/>
              </a:rPr>
              <a:t> scans. In 2025 IEEE 22nd International Multi-Conference on Systems, Signals &amp; Devices (SSD), pages 599–604. IEEE, 2025.</a:t>
            </a:r>
          </a:p>
        </p:txBody>
      </p:sp>
      <p:sp>
        <p:nvSpPr>
          <p:cNvPr id="5" name="TextBox 4">
            <a:extLst>
              <a:ext uri="{FF2B5EF4-FFF2-40B4-BE49-F238E27FC236}">
                <a16:creationId xmlns:a16="http://schemas.microsoft.com/office/drawing/2014/main" id="{13167342-4959-E4B4-6004-631CFA29EE77}"/>
              </a:ext>
            </a:extLst>
          </p:cNvPr>
          <p:cNvSpPr txBox="1"/>
          <p:nvPr/>
        </p:nvSpPr>
        <p:spPr>
          <a:xfrm flipH="1">
            <a:off x="6317673" y="299449"/>
            <a:ext cx="5588762" cy="707886"/>
          </a:xfrm>
          <a:prstGeom prst="rect">
            <a:avLst/>
          </a:prstGeom>
          <a:noFill/>
          <a:ln>
            <a:noFill/>
          </a:ln>
        </p:spPr>
        <p:txBody>
          <a:bodyPr wrap="square" rtlCol="0">
            <a:spAutoFit/>
          </a:bodyPr>
          <a:lstStyle/>
          <a:p>
            <a:pPr algn="r"/>
            <a:r>
              <a:rPr lang="en-US" sz="4000" b="1" dirty="0">
                <a:solidFill>
                  <a:srgbClr val="F67E2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p>
        </p:txBody>
      </p:sp>
      <p:cxnSp>
        <p:nvCxnSpPr>
          <p:cNvPr id="8" name="Straight Connector 7">
            <a:extLst>
              <a:ext uri="{FF2B5EF4-FFF2-40B4-BE49-F238E27FC236}">
                <a16:creationId xmlns:a16="http://schemas.microsoft.com/office/drawing/2014/main" id="{A68BD727-7C9A-885D-0E31-0EB906704CF2}"/>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0E6E6BCB-9E61-A77F-8C6B-74DF009005B4}"/>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810DF3C9-001B-5CB9-C540-DF30955E3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481A35CF-8320-3ADE-693F-57CCC3D38A28}"/>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F892D7ED-A824-383E-1A08-C56780882B0C}"/>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DDB78C5-824E-F3E7-0008-3E31E2806D45}"/>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B1C1777E-50A0-53BF-CC4A-84188121AE45}"/>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18</a:t>
            </a:fld>
            <a:endParaRPr lang="en-US"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3344316"/>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52724-07C2-759B-3E20-48B2CCECB69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C172422-AD30-3EEB-084E-DB7EC4A7026B}"/>
              </a:ext>
            </a:extLst>
          </p:cNvPr>
          <p:cNvCxnSpPr/>
          <p:nvPr/>
        </p:nvCxnSpPr>
        <p:spPr>
          <a:xfrm>
            <a:off x="285565" y="1260628"/>
            <a:ext cx="11620870" cy="0"/>
          </a:xfrm>
          <a:prstGeom prst="line">
            <a:avLst/>
          </a:prstGeom>
          <a:ln w="28575"/>
          <a:effectLst/>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99C0A119-839D-CCCE-E392-AA9908D75539}"/>
              </a:ext>
            </a:extLst>
          </p:cNvPr>
          <p:cNvSpPr/>
          <p:nvPr/>
        </p:nvSpPr>
        <p:spPr>
          <a:xfrm>
            <a:off x="3167865" y="160232"/>
            <a:ext cx="3628589" cy="1015663"/>
          </a:xfrm>
          <a:prstGeom prst="rect">
            <a:avLst/>
          </a:prstGeom>
        </p:spPr>
        <p:txBody>
          <a:bodyPr wrap="square">
            <a:spAutoFit/>
          </a:bodyPr>
          <a:lstStyle/>
          <a:p>
            <a:r>
              <a:rPr lang="en-GB" sz="2000" b="1" dirty="0">
                <a:solidFill>
                  <a:schemeClr val="accent6">
                    <a:lumMod val="75000"/>
                  </a:schemeClr>
                </a:solidFill>
                <a:latin typeface="Times New Roman" panose="02020603050405020304" pitchFamily="18" charset="0"/>
                <a:cs typeface="Times New Roman" panose="02020603050405020304" pitchFamily="18" charset="0"/>
              </a:rPr>
              <a:t>5</a:t>
            </a:r>
            <a:r>
              <a:rPr lang="en-GB" sz="2000" b="1" baseline="30000" dirty="0">
                <a:solidFill>
                  <a:schemeClr val="accent6">
                    <a:lumMod val="75000"/>
                  </a:schemeClr>
                </a:solidFill>
                <a:latin typeface="Times New Roman" panose="02020603050405020304" pitchFamily="18" charset="0"/>
                <a:cs typeface="Times New Roman" panose="02020603050405020304" pitchFamily="18" charset="0"/>
              </a:rPr>
              <a:t>th</a:t>
            </a:r>
            <a:r>
              <a:rPr lang="en-GB" sz="2000" b="1" dirty="0">
                <a:solidFill>
                  <a:schemeClr val="accent6">
                    <a:lumMod val="75000"/>
                  </a:schemeClr>
                </a:solidFill>
                <a:latin typeface="Times New Roman" panose="02020603050405020304" pitchFamily="18" charset="0"/>
                <a:cs typeface="Times New Roman" panose="02020603050405020304" pitchFamily="18" charset="0"/>
              </a:rPr>
              <a:t> International Conference on Applied Intelligence and Informatics (AII 2025)</a:t>
            </a:r>
          </a:p>
        </p:txBody>
      </p:sp>
      <p:pic>
        <p:nvPicPr>
          <p:cNvPr id="10" name="Picture 2">
            <a:extLst>
              <a:ext uri="{FF2B5EF4-FFF2-40B4-BE49-F238E27FC236}">
                <a16:creationId xmlns:a16="http://schemas.microsoft.com/office/drawing/2014/main" id="{B86D307C-B029-67FF-AE97-C63474C81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5" y="164711"/>
            <a:ext cx="2882299" cy="98260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9802830-C5EA-5388-D206-08EAB960F9D5}"/>
              </a:ext>
            </a:extLst>
          </p:cNvPr>
          <p:cNvSpPr/>
          <p:nvPr/>
        </p:nvSpPr>
        <p:spPr>
          <a:xfrm>
            <a:off x="0" y="6488666"/>
            <a:ext cx="12192000" cy="369333"/>
          </a:xfrm>
          <a:prstGeom prst="rect">
            <a:avLst/>
          </a:prstGeom>
          <a:solidFill>
            <a:srgbClr val="1F5F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a:extLst>
              <a:ext uri="{FF2B5EF4-FFF2-40B4-BE49-F238E27FC236}">
                <a16:creationId xmlns:a16="http://schemas.microsoft.com/office/drawing/2014/main" id="{9D2739E3-0235-7311-0D6E-1189667F177C}"/>
              </a:ext>
            </a:extLst>
          </p:cNvPr>
          <p:cNvSpPr>
            <a:spLocks noGrp="1"/>
          </p:cNvSpPr>
          <p:nvPr>
            <p:ph type="dt" sz="half" idx="10"/>
          </p:nvPr>
        </p:nvSpPr>
        <p:spPr>
          <a:xfrm>
            <a:off x="838200" y="6488666"/>
            <a:ext cx="2743200" cy="365125"/>
          </a:xfrm>
        </p:spPr>
        <p:txBody>
          <a:bodyPr/>
          <a:lstStyle/>
          <a:p>
            <a:fld id="{F0767E85-BA37-FC4F-9A6E-D12A952153C9}" type="datetime4">
              <a:rPr lang="en-US" smtClean="0">
                <a:solidFill>
                  <a:schemeClr val="bg1"/>
                </a:solidFill>
                <a:latin typeface="Times New Roman" panose="02020603050405020304" pitchFamily="18" charset="0"/>
                <a:cs typeface="Times New Roman" panose="02020603050405020304" pitchFamily="18" charset="0"/>
              </a:rPr>
              <a:t>October 29, 2025</a:t>
            </a:fld>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C73E378-7136-2EE6-9933-905EC7A8C720}"/>
              </a:ext>
            </a:extLst>
          </p:cNvPr>
          <p:cNvSpPr txBox="1"/>
          <p:nvPr/>
        </p:nvSpPr>
        <p:spPr>
          <a:xfrm>
            <a:off x="4731775" y="6543789"/>
            <a:ext cx="2728451" cy="276999"/>
          </a:xfrm>
          <a:prstGeom prst="rect">
            <a:avLst/>
          </a:prstGeom>
          <a:noFill/>
        </p:spPr>
        <p:txBody>
          <a:bodyPr wrap="square" rtlCol="0">
            <a:spAutoFit/>
          </a:bodyPr>
          <a:lstStyle/>
          <a:p>
            <a:pPr algn="ctr"/>
            <a:r>
              <a:rPr lang="en-US" sz="1200" dirty="0">
                <a:solidFill>
                  <a:schemeClr val="bg1"/>
                </a:solidFill>
                <a:latin typeface="Times New Roman" panose="02020603050405020304" pitchFamily="18" charset="0"/>
                <a:cs typeface="Times New Roman" panose="02020603050405020304" pitchFamily="18" charset="0"/>
              </a:rPr>
              <a:t>Paper ID- 2025051097</a:t>
            </a:r>
          </a:p>
        </p:txBody>
      </p:sp>
      <p:sp>
        <p:nvSpPr>
          <p:cNvPr id="17" name="TextBox 16">
            <a:extLst>
              <a:ext uri="{FF2B5EF4-FFF2-40B4-BE49-F238E27FC236}">
                <a16:creationId xmlns:a16="http://schemas.microsoft.com/office/drawing/2014/main" id="{F046AD76-A826-31E6-3443-5758A001AF6F}"/>
              </a:ext>
            </a:extLst>
          </p:cNvPr>
          <p:cNvSpPr txBox="1"/>
          <p:nvPr/>
        </p:nvSpPr>
        <p:spPr>
          <a:xfrm>
            <a:off x="9103691" y="6535163"/>
            <a:ext cx="2352436" cy="276999"/>
          </a:xfrm>
          <a:prstGeom prst="rect">
            <a:avLst/>
          </a:prstGeom>
          <a:noFill/>
        </p:spPr>
        <p:txBody>
          <a:bodyPr wrap="square" rtlCol="0">
            <a:spAutoFit/>
          </a:bodyPr>
          <a:lstStyle/>
          <a:p>
            <a:pPr algn="r"/>
            <a:fld id="{D7016E74-D77F-4E44-828E-542385239D72}" type="slidenum">
              <a:rPr lang="en-US" sz="1200" smtClean="0">
                <a:solidFill>
                  <a:schemeClr val="bg1"/>
                </a:solidFill>
                <a:latin typeface="Times New Roman" panose="02020603050405020304" pitchFamily="18" charset="0"/>
                <a:cs typeface="Times New Roman" panose="02020603050405020304" pitchFamily="18" charset="0"/>
              </a:rPr>
              <a:t>19</a:t>
            </a:fld>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1A39CF1-E294-D4C2-C20C-EE92E6C2C445}"/>
              </a:ext>
            </a:extLst>
          </p:cNvPr>
          <p:cNvSpPr/>
          <p:nvPr/>
        </p:nvSpPr>
        <p:spPr>
          <a:xfrm>
            <a:off x="3048000" y="2854516"/>
            <a:ext cx="6096000" cy="1148969"/>
          </a:xfrm>
          <a:prstGeom prst="rect">
            <a:avLst/>
          </a:prstGeom>
        </p:spPr>
        <p:txBody>
          <a:bodyPr>
            <a:spAutoFit/>
          </a:bodyPr>
          <a:lstStyle/>
          <a:p>
            <a:pPr algn="ctr">
              <a:lnSpc>
                <a:spcPct val="250000"/>
              </a:lnSpc>
            </a:pPr>
            <a:r>
              <a:rPr lang="en-US" dirty="0">
                <a:solidFill>
                  <a:srgbClr val="0070C0"/>
                </a:solidFill>
                <a:latin typeface="Cambria" panose="02040503050406030204" pitchFamily="18" charset="0"/>
              </a:rPr>
              <a:t>Thank you everyone for your kind attention.</a:t>
            </a:r>
          </a:p>
          <a:p>
            <a:pPr algn="ctr">
              <a:lnSpc>
                <a:spcPct val="150000"/>
              </a:lnSpc>
            </a:pPr>
            <a:r>
              <a:rPr lang="en-US" dirty="0">
                <a:solidFill>
                  <a:schemeClr val="accent6"/>
                </a:solidFill>
                <a:latin typeface="Cambria" panose="02040503050406030204" pitchFamily="18" charset="0"/>
              </a:rPr>
              <a:t>Welcome to Q &amp; A session!!!</a:t>
            </a:r>
          </a:p>
        </p:txBody>
      </p:sp>
    </p:spTree>
    <p:extLst>
      <p:ext uri="{BB962C8B-B14F-4D97-AF65-F5344CB8AC3E}">
        <p14:creationId xmlns:p14="http://schemas.microsoft.com/office/powerpoint/2010/main" val="1054163292"/>
      </p:ext>
    </p:extLst>
  </p:cSld>
  <p:clrMapOvr>
    <a:masterClrMapping/>
  </p:clrMapOvr>
  <mc:AlternateContent xmlns:mc="http://schemas.openxmlformats.org/markup-compatibility/2006" xmlns:p14="http://schemas.microsoft.com/office/powerpoint/2010/main">
    <mc:Choice Requires="p14">
      <p:transition spd="slow" p14:dur="2000" advTm="77446"/>
    </mc:Choice>
    <mc:Fallback xmlns="">
      <p:transition spd="slow" advTm="77446"/>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12830</TotalTime>
  <Words>2420</Words>
  <Application>Microsoft Macintosh PowerPoint</Application>
  <PresentationFormat>Widescreen</PresentationFormat>
  <Paragraphs>395</Paragraphs>
  <Slides>19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Cambria</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Francis Rudra D Cruze</cp:lastModifiedBy>
  <cp:revision>466</cp:revision>
  <dcterms:created xsi:type="dcterms:W3CDTF">2020-01-31T09:26:31Z</dcterms:created>
  <dcterms:modified xsi:type="dcterms:W3CDTF">2025-10-29T17:38:56Z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2025-02-03T15:57:46Z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87e87341-5f72-4e4d-8a52-cfc2b1f0c1c4</vt:lpwstr>
  </property>
  <property fmtid="{D5CDD505-2E9C-101B-9397-08002B2CF9AE}" pid="7" name="MSIP_Label_defa4170-0d19-0005-0004-bc88714345d2_ActionId">
    <vt:lpwstr>df1dcc43-997e-41a6-a8eb-a68fb6ddd0c2</vt:lpwstr>
  </property>
  <property fmtid="{D5CDD505-2E9C-101B-9397-08002B2CF9AE}" pid="8" name="MSIP_Label_defa4170-0d19-0005-0004-bc88714345d2_ContentBits">
    <vt:lpwstr>0</vt:lpwstr>
  </property>
</Properties>
</file>